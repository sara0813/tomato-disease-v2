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31.xml" ContentType="application/vnd.openxmlformats-officedocument.presentationml.slide+xml"/>
  <Override PartName="/ppt/slides/slide35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3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9" r:id="rId23"/>
    <p:sldId id="280" r:id="rId24"/>
    <p:sldId id="293" r:id="rId43"/>
    <p:sldId id="292" r:id="rId42"/>
    <p:sldId id="290" r:id="rId40"/>
    <p:sldId id="294" r:id="rId44"/>
    <p:sldId id="295" r:id="rId45"/>
    <p:sldId id="298" r:id="rId48"/>
    <p:sldId id="296" r:id="rId46"/>
    <p:sldId id="297" r:id="rId47"/>
    <p:sldId id="286" r:id="rId36"/>
    <p:sldId id="277" r:id="rId30"/>
    <p:sldId id="278" r:id="rId3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4" d="100"/>
          <a:sy n="54" d="100"/>
        </p:scale>
        <p:origin x="62" y="13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  <Relationship Id="rId36" Type="http://schemas.openxmlformats.org/officeDocument/2006/relationships/slide" Target="slides/slide31.xml"/>
  
  
  
  <Relationship Id="rId40" Type="http://schemas.openxmlformats.org/officeDocument/2006/relationships/slide" Target="slides/slide35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8" Type="http://schemas.openxmlformats.org/officeDocument/2006/relationships/slide" Target="slides/slide43.xml"/><Relationship Id="rId46" Type="http://schemas.openxmlformats.org/officeDocument/2006/relationships/slide" Target="slides/slide41.xml"/><Relationship Id="rId47" Type="http://schemas.openxmlformats.org/officeDocument/2006/relationships/slide" Target="slides/slide42.xml"/>
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r>
              <a:rPr sz="1100">
                <a:solidFill>
                  <a:srgbClr val="1E2761"/>
                </a:solidFill>
              </a:rPr>
              <a:t>V2 (직접 학습)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V2</c:v>
                </c:pt>
              </c:strCache>
            </c:strRef>
          </c:tx>
          <c:spPr>
            <a:solidFill>
              <a:srgbClr val="2A78D6"/>
            </a:solidFill>
          </c:spPr>
          <c:invertIfNegative val="1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/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tiny_cnn_c</c:v>
                </c:pt>
                <c:pt idx="1">
                  <c:v>tiny_cnn_a</c:v>
                </c:pt>
                <c:pt idx="2">
                  <c:v>tiny_cnn_b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96.26</c:v>
                </c:pt>
                <c:pt idx="1">
                  <c:v>96.59</c:v>
                </c:pt>
                <c:pt idx="2">
                  <c:v>98.42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C5FD-485D-8DC4-E1A033689C65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50">
                <a:solidFill>
                  <a:srgbClr val="1A1A1A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05"/>
          <c:min val="0"/>
        </c:scaling>
        <c:delete val="0"/>
        <c:axPos val="b"/>
        <c:majorGridlines>
          <c:spPr>
            <a:ln w="9525">
              <a:solidFill>
                <a:srgbClr val="E3E6EE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00">
                <a:solidFill>
                  <a:srgbClr val="5B5E6B"/>
                </a:solidFill>
              </a:defRPr>
            </a:pPr>
            <a:endParaRPr lang="ko-KR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r>
              <a:rPr sz="1100">
                <a:solidFill>
                  <a:srgbClr val="1E2761"/>
                </a:solidFill>
              </a:rPr>
              <a:t>V1 (인용, 재학습 안 함)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V1</c:v>
                </c:pt>
              </c:strCache>
            </c:strRef>
          </c:tx>
          <c:spPr>
            <a:solidFill>
              <a:srgbClr val="898781"/>
            </a:solidFill>
          </c:spPr>
          <c:invertIfNegative val="1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/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densenet121</c:v>
                </c:pt>
                <c:pt idx="1">
                  <c:v>efficientnetb0_cw</c:v>
                </c:pt>
                <c:pt idx="2">
                  <c:v>baseline_cnn</c:v>
                </c:pt>
                <c:pt idx="3">
                  <c:v>mobilenetv2</c:v>
                </c:pt>
                <c:pt idx="4">
                  <c:v>efficientnetb0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80.58</c:v>
                </c:pt>
                <c:pt idx="1">
                  <c:v>82.3</c:v>
                </c:pt>
                <c:pt idx="2">
                  <c:v>83.32</c:v>
                </c:pt>
                <c:pt idx="3">
                  <c:v>84.42</c:v>
                </c:pt>
                <c:pt idx="4">
                  <c:v>86.21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C49C-40EE-8D4C-74A795169B02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50">
                <a:solidFill>
                  <a:srgbClr val="1A1A1A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05"/>
          <c:min val="0"/>
        </c:scaling>
        <c:delete val="0"/>
        <c:axPos val="b"/>
        <c:majorGridlines>
          <c:spPr>
            <a:ln w="9525">
              <a:solidFill>
                <a:srgbClr val="E3E6EE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00">
                <a:solidFill>
                  <a:srgbClr val="5B5E6B"/>
                </a:solidFill>
              </a:defRPr>
            </a:pPr>
            <a:endParaRPr lang="ko-KR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FLOPs(M)</c:v>
                </c:pt>
              </c:strCache>
            </c:strRef>
          </c:tx>
          <c:spPr>
            <a:solidFill>
              <a:srgbClr val="2A78D6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/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tiny_cnn_c</c:v>
                </c:pt>
                <c:pt idx="1">
                  <c:v>tiny_cnn_a</c:v>
                </c:pt>
                <c:pt idx="2">
                  <c:v>tiny_cnn_b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74.400000000000006</c:v>
                </c:pt>
                <c:pt idx="1">
                  <c:v>330.3</c:v>
                </c:pt>
                <c:pt idx="2">
                  <c:v>405.8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9940-4B33-AF8D-10287682D321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50">
                <a:solidFill>
                  <a:srgbClr val="1A1A1A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9525">
              <a:solidFill>
                <a:srgbClr val="E3E6EE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00">
                <a:solidFill>
                  <a:srgbClr val="5B5E6B"/>
                </a:solidFill>
              </a:defRPr>
            </a:pPr>
            <a:endParaRPr lang="ko-KR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tiny_cnn_a</c:v>
                </c:pt>
              </c:strCache>
            </c:strRef>
          </c:tx>
          <c:spPr>
            <a:solidFill>
              <a:srgbClr val="9EC5F4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reflection</c:v>
                </c:pt>
                <c:pt idx="1">
                  <c:v>occlusion</c:v>
                </c:pt>
                <c:pt idx="2">
                  <c:v>shadow</c:v>
                </c:pt>
                <c:pt idx="3">
                  <c:v>noise</c:v>
                </c:pt>
                <c:pt idx="4">
                  <c:v>blur</c:v>
                </c:pt>
                <c:pt idx="5">
                  <c:v>brightness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8.09</c:v>
                </c:pt>
                <c:pt idx="1">
                  <c:v>18.16</c:v>
                </c:pt>
                <c:pt idx="2">
                  <c:v>18.170000000000002</c:v>
                </c:pt>
                <c:pt idx="3">
                  <c:v>37.94</c:v>
                </c:pt>
                <c:pt idx="4">
                  <c:v>52.43</c:v>
                </c:pt>
                <c:pt idx="5">
                  <c:v>62.73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E201-428C-9E90-7C9147FA93C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tiny_cnn_b</c:v>
                </c:pt>
              </c:strCache>
            </c:strRef>
          </c:tx>
          <c:spPr>
            <a:solidFill>
              <a:srgbClr val="2A78D6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reflection</c:v>
                </c:pt>
                <c:pt idx="1">
                  <c:v>occlusion</c:v>
                </c:pt>
                <c:pt idx="2">
                  <c:v>shadow</c:v>
                </c:pt>
                <c:pt idx="3">
                  <c:v>noise</c:v>
                </c:pt>
                <c:pt idx="4">
                  <c:v>blur</c:v>
                </c:pt>
                <c:pt idx="5">
                  <c:v>brightness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6.66</c:v>
                </c:pt>
                <c:pt idx="1">
                  <c:v>10.87</c:v>
                </c:pt>
                <c:pt idx="2">
                  <c:v>7.81</c:v>
                </c:pt>
                <c:pt idx="3">
                  <c:v>29.56</c:v>
                </c:pt>
                <c:pt idx="4">
                  <c:v>45.63</c:v>
                </c:pt>
                <c:pt idx="5">
                  <c:v>54.96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E201-428C-9E90-7C9147FA93C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tiny_cnn_c</c:v>
                </c:pt>
              </c:strCache>
            </c:strRef>
          </c:tx>
          <c:spPr>
            <a:solidFill>
              <a:srgbClr val="EB6834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reflection</c:v>
                </c:pt>
                <c:pt idx="1">
                  <c:v>occlusion</c:v>
                </c:pt>
                <c:pt idx="2">
                  <c:v>shadow</c:v>
                </c:pt>
                <c:pt idx="3">
                  <c:v>noise</c:v>
                </c:pt>
                <c:pt idx="4">
                  <c:v>blur</c:v>
                </c:pt>
                <c:pt idx="5">
                  <c:v>brightness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6.9</c:v>
                </c:pt>
                <c:pt idx="1">
                  <c:v>10.98</c:v>
                </c:pt>
                <c:pt idx="2">
                  <c:v>17.89</c:v>
                </c:pt>
                <c:pt idx="3">
                  <c:v>35.47</c:v>
                </c:pt>
                <c:pt idx="4">
                  <c:v>47.31</c:v>
                </c:pt>
                <c:pt idx="5">
                  <c:v>63.56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E201-428C-9E90-7C9147FA93C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50">
                <a:solidFill>
                  <a:srgbClr val="1A1A1A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9525">
              <a:solidFill>
                <a:srgbClr val="E3E6EE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00">
                <a:solidFill>
                  <a:srgbClr val="5B5E6B"/>
                </a:solidFill>
              </a:defRPr>
            </a:pPr>
            <a:endParaRPr lang="ko-KR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000">
              <a:solidFill>
                <a:srgbClr val="5B5E6B"/>
              </a:solidFill>
            </a:defRPr>
          </a:pPr>
          <a:endParaRPr lang="ko-KR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내부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Sheet1!$A$2:$A$4</c:f>
              <c:strCache>
                <c:ptCount val="3"/>
                <c:pt idx="0">
                  <c:v>tiny_cnn_a</c:v>
                </c:pt>
                <c:pt idx="1">
                  <c:v>tiny_cnn_b</c:v>
                </c:pt>
                <c:pt idx="2">
                  <c:v>tiny_cnn_c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96.59</c:v>
                </c:pt>
                <c:pt idx="1">
                  <c:v>98.42</c:v>
                </c:pt>
                <c:pt idx="2">
                  <c:v>96.26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18B6-4790-805F-11A32E27B0A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Taiwan(3cls)</c:v>
                </c:pt>
              </c:strCache>
            </c:strRef>
          </c:tx>
          <c:spPr>
            <a:solidFill>
              <a:srgbClr val="2A78D6"/>
            </a:solidFill>
          </c:spPr>
          <c:invertIfNegative val="1"/>
          <c:cat>
            <c:strRef>
              <c:f>Sheet1!$A$2:$A$4</c:f>
              <c:strCache>
                <c:ptCount val="3"/>
                <c:pt idx="0">
                  <c:v>tiny_cnn_a</c:v>
                </c:pt>
                <c:pt idx="1">
                  <c:v>tiny_cnn_b</c:v>
                </c:pt>
                <c:pt idx="2">
                  <c:v>tiny_cnn_c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26.75</c:v>
                </c:pt>
                <c:pt idx="1">
                  <c:v>29.3</c:v>
                </c:pt>
                <c:pt idx="2">
                  <c:v>25.16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18B6-4790-805F-11A32E27B0A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Bangladesh(6cls)</c:v>
                </c:pt>
              </c:strCache>
            </c:strRef>
          </c:tx>
          <c:spPr>
            <a:solidFill>
              <a:srgbClr val="EB6834"/>
            </a:solidFill>
          </c:spPr>
          <c:invertIfNegative val="1"/>
          <c:cat>
            <c:strRef>
              <c:f>Sheet1!$A$2:$A$4</c:f>
              <c:strCache>
                <c:ptCount val="3"/>
                <c:pt idx="0">
                  <c:v>tiny_cnn_a</c:v>
                </c:pt>
                <c:pt idx="1">
                  <c:v>tiny_cnn_b</c:v>
                </c:pt>
                <c:pt idx="2">
                  <c:v>tiny_cnn_c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17.62</c:v>
                </c:pt>
                <c:pt idx="1">
                  <c:v>18.260000000000002</c:v>
                </c:pt>
                <c:pt idx="2">
                  <c:v>15.44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18B6-4790-805F-11A32E27B0AA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PlantDoc(8cls)</c:v>
                </c:pt>
              </c:strCache>
            </c:strRef>
          </c:tx>
          <c:spPr>
            <a:solidFill>
              <a:srgbClr val="1BAF7A"/>
            </a:solidFill>
          </c:spPr>
          <c:invertIfNegative val="1"/>
          <c:cat>
            <c:strRef>
              <c:f>Sheet1!$A$2:$A$4</c:f>
              <c:strCache>
                <c:ptCount val="3"/>
                <c:pt idx="0">
                  <c:v>tiny_cnn_a</c:v>
                </c:pt>
                <c:pt idx="1">
                  <c:v>tiny_cnn_b</c:v>
                </c:pt>
                <c:pt idx="2">
                  <c:v>tiny_cnn_c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23.7</c:v>
                </c:pt>
                <c:pt idx="1">
                  <c:v>23.55</c:v>
                </c:pt>
                <c:pt idx="2">
                  <c:v>20.03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3-18B6-4790-805F-11A32E27B0A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50">
                <a:solidFill>
                  <a:srgbClr val="1A1A1A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05"/>
          <c:min val="0"/>
        </c:scaling>
        <c:delete val="0"/>
        <c:axPos val="l"/>
        <c:majorGridlines>
          <c:spPr>
            <a:ln w="9525">
              <a:solidFill>
                <a:srgbClr val="E3E6EE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00">
                <a:solidFill>
                  <a:srgbClr val="5B5E6B"/>
                </a:solidFill>
              </a:defRPr>
            </a:pPr>
            <a:endParaRPr lang="ko-KR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000">
              <a:solidFill>
                <a:srgbClr val="5B5E6B"/>
              </a:solidFill>
            </a:defRPr>
          </a:pPr>
          <a:endParaRPr lang="ko-KR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8961120" y="-2286000"/>
            <a:ext cx="6400800" cy="6400800"/>
          </a:xfrm>
          <a:prstGeom prst="ellipse">
            <a:avLst/>
          </a:prstGeom>
          <a:solidFill>
            <a:srgbClr val="141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515600" y="3840480"/>
            <a:ext cx="3657600" cy="3657600"/>
          </a:xfrm>
          <a:prstGeom prst="ellipse">
            <a:avLst/>
          </a:prstGeom>
          <a:solidFill>
            <a:srgbClr val="141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200">
                <a:solidFill>
                  <a:srgbClr val="CADCFC"/>
                </a:solidFill>
                <a:latin typeface="Calibri"/>
              </a:rPr>
              <a:t>CAPSTONE DESIGN · PROGRESS REPORT (상세판)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40280"/>
            <a:ext cx="987552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 i="0">
                <a:solidFill>
                  <a:srgbClr val="FFFFFF"/>
                </a:solidFill>
                <a:latin typeface="Cambria"/>
              </a:rPr>
              <a:t>경량 CNN 기반 토마토 잎 병해 분류</a:t>
            </a:r>
          </a:p>
          <a:p>
            <a:pPr algn="l">
              <a:lnSpc>
                <a:spcPct val="112000"/>
              </a:lnSpc>
            </a:pPr>
            <a:r>
              <a:rPr sz="3600" b="1" i="0">
                <a:solidFill>
                  <a:srgbClr val="FFFFFF"/>
                </a:solidFill>
                <a:latin typeface="Cambria"/>
              </a:rPr>
              <a:t>및 강건성 평가 — V2 상세 진행 보고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1440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CADCFC"/>
                </a:solidFill>
                <a:latin typeface="Calibri"/>
              </a:rPr>
              <a:t>데이터 파이프라인 · 모델 설계 근거 · 4개 축(내부/효율/강건성/일반화) 결과 해석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22960" y="4663440"/>
            <a:ext cx="2011680" cy="0"/>
          </a:xfrm>
          <a:prstGeom prst="line">
            <a:avLst/>
          </a:prstGeom>
          <a:ln w="38100">
            <a:solidFill>
              <a:srgbClr val="EB68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22960" y="484632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작성자  사라        정리일  2026.09.17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12648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8E9BD4"/>
                </a:solidFill>
                <a:latin typeface="Calibri"/>
              </a:rPr>
              <a:t>모델은 더 작게 · 분류 문제는 더 어렵게 · 성능은 안정적으로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PROJECT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7단계 로드맵 — 지금 어디까지 왔나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2057400"/>
            <a:ext cx="14447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33649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설계+학습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38221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0CA30C"/>
                </a:solidFill>
                <a:latin typeface="Calibri"/>
              </a:rPr>
              <a:t>완료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93392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2157984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157984" y="2057400"/>
            <a:ext cx="14447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93391" y="33649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내부평가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93391" y="38221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0CA30C"/>
                </a:solidFill>
                <a:latin typeface="Calibri"/>
              </a:rPr>
              <a:t>완료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602736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3767328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767328" y="2057400"/>
            <a:ext cx="14447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2736" y="33649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효율성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2736" y="38221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0CA30C"/>
                </a:solidFill>
                <a:latin typeface="Calibri"/>
              </a:rPr>
              <a:t>완료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212080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5376672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376672" y="2057400"/>
            <a:ext cx="14447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3649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Corruption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38221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0CA30C"/>
                </a:solidFill>
                <a:latin typeface="Calibri"/>
              </a:rPr>
              <a:t>완료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21424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6986016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986016" y="2057400"/>
            <a:ext cx="14447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21424" y="33649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외부평가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21424" y="38221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0CA30C"/>
                </a:solidFill>
                <a:latin typeface="Calibri"/>
              </a:rPr>
              <a:t>완료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430767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8595360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595360" y="2057400"/>
            <a:ext cx="14447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30768" y="33649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최종선정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30768" y="38221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EB6834"/>
                </a:solidFill>
                <a:latin typeface="Calibri"/>
              </a:rPr>
              <a:t>완료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0040112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10204704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0204704" y="2057400"/>
            <a:ext cx="14447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40112" y="33649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웹시스템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40112" y="38221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2A78D6"/>
                </a:solidFill>
                <a:latin typeface="Calibri"/>
              </a:rPr>
              <a:t>프로토타입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434340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이 보고서에서 다루는 내용</a:t>
            </a:r>
          </a:p>
        </p:txBody>
      </p:sp>
      <p:sp>
        <p:nvSpPr>
          <p:cNvPr id="39" name="Oval 38"/>
          <p:cNvSpPr/>
          <p:nvPr/>
        </p:nvSpPr>
        <p:spPr>
          <a:xfrm>
            <a:off x="548640" y="4782312"/>
            <a:ext cx="128016" cy="128016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22960" y="475488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왜 PyTorch로 전환했는가</a:t>
            </a:r>
          </a:p>
        </p:txBody>
      </p:sp>
      <p:sp>
        <p:nvSpPr>
          <p:cNvPr id="41" name="Oval 40"/>
          <p:cNvSpPr/>
          <p:nvPr/>
        </p:nvSpPr>
        <p:spPr>
          <a:xfrm>
            <a:off x="548640" y="5148072"/>
            <a:ext cx="128016" cy="128016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22960" y="512064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4개 데이터셋을 각각 어떻게 준비했는가 (몇 장 · 어떤 클래스 · 왜 그 방식으로)</a:t>
            </a:r>
          </a:p>
        </p:txBody>
      </p:sp>
      <p:sp>
        <p:nvSpPr>
          <p:cNvPr id="43" name="Oval 42"/>
          <p:cNvSpPr/>
          <p:nvPr/>
        </p:nvSpPr>
        <p:spPr>
          <a:xfrm>
            <a:off x="548640" y="5513832"/>
            <a:ext cx="128016" cy="128016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22960" y="54864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Tiny CNN 3종을 어떻게, 왜 그렇게 설계했는가</a:t>
            </a:r>
          </a:p>
        </p:txBody>
      </p:sp>
      <p:sp>
        <p:nvSpPr>
          <p:cNvPr id="45" name="Oval 44"/>
          <p:cNvSpPr/>
          <p:nvPr/>
        </p:nvSpPr>
        <p:spPr>
          <a:xfrm>
            <a:off x="548640" y="5879592"/>
            <a:ext cx="128016" cy="128016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22960" y="585216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4개 평가 축(내부·효율·강건성·일반화) 결과 + 최종 모델 선정·DA 1차 실험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FRAMEWORK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왜 TensorFlow에서 PyTorch로 전환했나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5394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배경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539496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1A1A1A"/>
                </a:solidFill>
                <a:latin typeface="Calibri"/>
              </a:rPr>
              <a:t>1단계(모델 설계)를 시작하며 Tiny CNN을 여러 버전으로 계속 바꿔가며 실험할 계획이었다. 이런 반복 실험에는 TensorFlow/Keras의 선언적 Sequential/Functional API보다, 즉시 실행되는(eager execution) PyTorch의 nn.Module 방식이 구조를 바꾸고 디버깅하기 더 쉽다.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554480"/>
            <a:ext cx="5349240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92240" y="1664207"/>
            <a:ext cx="48920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구조 변경 속도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975104"/>
            <a:ext cx="4892040" cy="3017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nn.Module 상속 + forward()만 고치면 됨 — 매번 그래프를 다시 정의할 필요 없음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478024"/>
            <a:ext cx="5349240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92240" y="2587752"/>
            <a:ext cx="48920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디버깅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898648"/>
            <a:ext cx="4892040" cy="3017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중간 텐서를 파이썬 print/pdb로 바로 확인 — 그래프 컴파일 없이 즉시 실행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3401568"/>
            <a:ext cx="5349240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3511296"/>
            <a:ext cx="48920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사전학습 모델 접근성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822191"/>
            <a:ext cx="4892040" cy="3017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torchvision.models로 MobileNetV2/EfficientNetB0/DenseNet121을 바로 로드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4325112"/>
            <a:ext cx="5349240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92240" y="4434840"/>
            <a:ext cx="48920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CPU 친화성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745736"/>
            <a:ext cx="4892040" cy="3017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이 프로젝트는 처음부터 고성능 GPU를 전제하지 않음 — PyTorch CPU 빌드로 문제없이 충족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486400"/>
            <a:ext cx="11091672" cy="9601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2960" y="566928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이미 학습·평가에 쓴 6개 스크립트(train_model.py, evaluate_*.py 등)가 전부 PyTorch로 새로 구현됐고, 지금까지의 모든 실측 결과(내부/효율/corruption/외부)가 이 파이프라인에서 나온 것이다.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데이터 파이프라인 전체 지도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11091672" cy="82296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828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EB6834"/>
                </a:solidFill>
                <a:latin typeface="Calibri"/>
              </a:rPr>
              <a:t>원칙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data/raw/ 원본은 절대 수정하지 않는다. 모든 가공물은 data/processed · data/external · data/corrupted에 새로 생성한다.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743200"/>
            <a:ext cx="2606040" cy="155448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2907792"/>
            <a:ext cx="2240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PlantVillage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9184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EB6834"/>
                </a:solidFill>
                <a:latin typeface="Cambria"/>
              </a:rPr>
              <a:t>18,160장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Calibri"/>
              </a:rPr>
              <a:t>학습 + 내부평가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10712" y="2743200"/>
            <a:ext cx="2606040" cy="1554480"/>
          </a:xfrm>
          <a:prstGeom prst="roundRect">
            <a:avLst>
              <a:gd name="adj" fmla="val 6000"/>
            </a:avLst>
          </a:prstGeom>
          <a:solidFill>
            <a:srgbClr val="2A78D6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93592" y="2907792"/>
            <a:ext cx="2240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Taiwan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329184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314장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93592" y="3840480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Calibri"/>
              </a:rPr>
              <a:t>외부평가 (3/10)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72783" y="2743200"/>
            <a:ext cx="2606040" cy="1554480"/>
          </a:xfrm>
          <a:prstGeom prst="roundRect">
            <a:avLst>
              <a:gd name="adj" fmla="val 6000"/>
            </a:avLst>
          </a:prstGeom>
          <a:solidFill>
            <a:srgbClr val="2A78D6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55664" y="2907792"/>
            <a:ext cx="2240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Bangladesh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5664" y="329184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1,101장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5664" y="3840480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Calibri"/>
              </a:rPr>
              <a:t>외부평가 (6/10)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34856" y="2743200"/>
            <a:ext cx="2606040" cy="1554480"/>
          </a:xfrm>
          <a:prstGeom prst="roundRect">
            <a:avLst>
              <a:gd name="adj" fmla="val 6000"/>
            </a:avLst>
          </a:prstGeom>
          <a:solidFill>
            <a:srgbClr val="2A78D6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317736" y="2907792"/>
            <a:ext cx="2240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PlantDoc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17736" y="329184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709장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17736" y="3840480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Calibri"/>
              </a:rPr>
              <a:t>외부평가 (8/10)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52628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5B5E6B"/>
                </a:solidFill>
                <a:latin typeface="Calibri"/>
              </a:rPr>
              <a:t>↓  PlantVillage test셋(2,727장)에만 적용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892040"/>
            <a:ext cx="11091672" cy="100584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2960" y="502920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Corruption 변형셋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34924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6조건 × 3단계 = 49,086장 (4단계 강건성 평가 전용, 학습에는 절대 사용 안 함)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1 · PLANTVILLAGE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PlantVillage — 학습 데이터 클래스별 상세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694944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클래스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전체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train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val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test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황화잎말림바이러스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5,357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3,749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세균성 점무늬병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2,127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1,489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319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319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역병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1,909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1,335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셉토리아 잎반점병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1,771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1,239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266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266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점박이응애 피해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1,676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1,172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정상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1,591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1,113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239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239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타깃스팟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1,404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잎곰팡이병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952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666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143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143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겹무늬병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823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토마토 모자이크 바이러스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373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261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56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56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680960" y="1508760"/>
            <a:ext cx="3959352" cy="192024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09560" y="1691640"/>
            <a:ext cx="3657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EB6834"/>
                </a:solidFill>
                <a:latin typeface="Cambria"/>
              </a:rPr>
              <a:t>70 / 15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09560" y="2286000"/>
            <a:ext cx="356616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ADCFC"/>
                </a:solidFill>
                <a:latin typeface="Calibri"/>
              </a:rPr>
              <a:t>그룹 단위 분할 (leakage 방지)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ADCFC"/>
                </a:solidFill>
                <a:latin typeface="Calibri"/>
              </a:rPr>
              <a:t>시드 고정(42) — 재현 가능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ADCFC"/>
                </a:solidFill>
                <a:latin typeface="Calibri"/>
              </a:rPr>
              <a:t>train 12,706 · val 2,727 · test 2,727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3566160"/>
            <a:ext cx="3959352" cy="21031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909560" y="3749039"/>
            <a:ext cx="3566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불균형: 14.36배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9560" y="4160520"/>
            <a:ext cx="3566160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최다 황화잎말림바이러스(5,357) vs 최소 모자이크바이러스(373). class weight·오버샘플링으로 보정하지 않고 자연 분포 그대로 학습 — 실제 재배 환경의 병해 발생 빈도를 반영한다는 판단.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2 · TAIWAN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Taiwan 데이터 처리 — 어떻게, 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5303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원본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53035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Train/Test 폴더에 6개 클래스: Bacterial spot · Black mold · Gray spot · health · Late blight · powdery mildew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5303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처리 방침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971800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① Train+Test를 병합한다 — Taiwan으로 학습하지 않으므로 원 제작자의 분할은 의미가 없고, 합쳐야 평가 샘플이 최대화된다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38728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② PlantVillage 10개 클래스와 이름이 대응되는 3개만 남긴다 (Bacterial spot / Late blight / healthy)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05656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③ Black mold·Gray spot·powdery mildew는 대응 클래스가 없어 제외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63640" y="1508760"/>
          <a:ext cx="539496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클래스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매핑 원본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장수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세균성 점무늬병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Bacterial spot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110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역병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Late blight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98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정상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health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106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263640" y="3520440"/>
            <a:ext cx="5394960" cy="260604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92240" y="3703320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E2761"/>
                </a:solidFill>
                <a:latin typeface="Calibri"/>
              </a:rPr>
              <a:t>314장 / 3개 클래스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4114800"/>
            <a:ext cx="4937760" cy="1874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PlantVillage 10개 중 3개만 겹쳐서 커버리지가 제일 낮다. 그럼에도 외부 평가에 포함한 이유는 이후 PlantDoc(8개 클래스)과 직접 비교해서 "클래스 커버리지가 결과에 영향을 주는지"를 검증하기 위함이다.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3 · BANGLADESH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Bangladesh bbox — 왜 크롭이 필요했나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원본이 YOLO 객체탐지 데이터셋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1097280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Bangladesh 데이터셋은 우리처럼 "잎 전체 사진 한 장 = 한 클래스"가 아니라, 농장에서 찍은 넓은 사진 위에 병반 위치를 bbox(좌표)로 표시해 둔 YOLO 라벨 형식이다. 그래서 이미지 자체가 아니라 라벨의 bbox 좌표로 병반 영역만 잘라내야(crop) 우리 분류기가 쓸 수 있는 "잎(병반) 사진"이 만들어진다.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17520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라벨 클래스 매핑 (YOLO class id → PlantVillage)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429000"/>
          <a:ext cx="114300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id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원본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Early Blight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Black Spot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Late Blight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Leaf Mold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Bacterial Spot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Target Spot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Healthy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매핑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겹무늬병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제외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역병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잎곰팡이병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세균성점무늬병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타깃스팟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정상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5029200"/>
            <a:ext cx="11091672" cy="1280160"/>
          </a:xfrm>
          <a:prstGeom prst="roundRect">
            <a:avLst>
              <a:gd name="adj" fmla="val 6000"/>
            </a:avLst>
          </a:prstGeom>
          <a:solidFill>
            <a:srgbClr val="FBEEEA"/>
          </a:solidFill>
          <a:ln w="12700">
            <a:solidFill>
              <a:srgbClr val="F0C4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516636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8A3A24"/>
                </a:solidFill>
                <a:latin typeface="Calibri"/>
              </a:rPr>
              <a:t>발견한 문제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468112"/>
            <a:ext cx="105156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8A3A24"/>
                </a:solidFill>
                <a:latin typeface="Calibri"/>
              </a:rPr>
              <a:t>bbox가 "잎 전체"가 아니라 "병반 하나"만 표시한다 — 그대로 자르면 1,101장 중 843장(77%)이 128×128보다 작았고, 가장 작은 건 4×3px였다. 이대로 리사이즈하면 손톱만한 점 하나가 억지로 확대되어 뭉개진 이미지가 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3 · BANGLADESH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Bangladesh bbox — 해결: 여백 + 최소 크기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40% 여백 + 최소 96px 보장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566928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① 원래 bbox 크기에 40% 여백을 둘러서 잎 맥락을 포함시킨다.</a:t>
            </a:r>
          </a:p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② 그래도 96px보다 작으면, 중심을 유지한 채 그 크기까지 강제로 확장한다.</a:t>
            </a:r>
          </a:p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③ 확장한 영역이 이미지 경계를 넘으면 크기는 유지하고 창을 안쪽으로 밀어서 자른다.</a:t>
            </a:r>
          </a:p>
        </p:txBody>
      </p:sp>
      <p:pic>
        <p:nvPicPr>
          <p:cNvPr id="6" name="Picture 5" descr="bbox_comparis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1086" y="3246120"/>
            <a:ext cx="6586779" cy="2331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66928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0" i="1">
                <a:solidFill>
                  <a:srgbClr val="5B5E6B"/>
                </a:solidFill>
                <a:latin typeface="Calibri"/>
              </a:rPr>
              <a:t>실제 샘플: 원본 bbox 11×7px → 그대로 키우면 색 얼룩만 보임 vs 40%여백+최소96px 적용 시 병반 형태가 보임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6080760"/>
            <a:ext cx="11091672" cy="5029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6144768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1E2761"/>
                </a:solidFill>
                <a:latin typeface="Calibri"/>
              </a:rPr>
              <a:t>결과: 1,177개 bbox 제외(주로 Black Spot) 후 최종 1,101장, 전부 96×96px 이상 확보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4 · PLANTDOC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PlantDoc을 추가한 이유 — 클래스 커버리지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기존 외부셋의 한계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Taiwan은 10개 중 3개, Bangladesh는 6개 클래스만 겹쳐서, 외부 정확도가 낮은 이유가 "클래스가 안 맞아서"인지 "진짜 환경이 달라서"인지 구분하기 어려웠다. 그래서 클래스가 훨씬 많이 겹치는 데이터셋을 추가로 찾았다.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834640"/>
          <a:ext cx="11091672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593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데이터셋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겹치는 클래스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이미지 수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촬영 방식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Taiwan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3 / 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314장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실제 농장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Bangladesh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6 / 10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1,101장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실제 농장 (bbox)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PlantDoc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8 / 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709장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Google/Bing 이미지 검색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4754880"/>
            <a:ext cx="11091672" cy="146304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493776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PlantDoc (Singh et al., 2019)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257800"/>
            <a:ext cx="105156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PlantVillage와 독립적으로 수집된 실사 데이터라 우리 학습 데이터와 겹칠 위험이 낮고, 13개 작물 중 토마토 9개 폴더가 PlantVillage 10개 클래스 중 8개와 대응된다 (Target_Spot만 대응 없음). CC-BY-4.0 라이선스, GitHub 공개.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4 · PLANTDOC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PlantDoc — 다운로드 이슈와 품질 검수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5394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다운로드 과정에서 겪은 문제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80" b="0" i="0">
                <a:solidFill>
                  <a:srgbClr val="1A1A1A"/>
                </a:solidFill>
                <a:latin typeface="Calibri"/>
              </a:rPr>
              <a:t>① git clone → 파일명에 '?' 등 Windows 금지 문자가 있어 checkout 실패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80" b="0" i="0">
                <a:solidFill>
                  <a:srgbClr val="1A1A1A"/>
                </a:solidFill>
                <a:latin typeface="Calibri"/>
              </a:rPr>
              <a:t>② GitHub API로 파일 단위 다운로드 → 특수문자 인코딩으로 다수 404, API rate limit(60회/시간)까지 소진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80" b="0" i="0">
                <a:solidFill>
                  <a:srgbClr val="1A1A1A"/>
                </a:solidFill>
                <a:latin typeface="Calibri"/>
              </a:rPr>
              <a:t>③ 최종: 저장소 전체를 zip으로 받아(984MB) 파일명을 정리하며 추출 → 746장 확보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394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품질 검수 (콘택트시트 수작업)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886200"/>
            <a:ext cx="539496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80" b="0" i="0">
                <a:solidFill>
                  <a:srgbClr val="1A1A1A"/>
                </a:solidFill>
                <a:latin typeface="Calibri"/>
              </a:rPr>
              <a:t>Google 이미지 검색 기반이라 진단표·여러 질병을 합친 비교 콜라주·삽화·문서 캡처처럼 "잎 사진이 아닌" 이미지가 섞여 있었다. 8개 클래스 전체를 썸네일 격자(콘택트시트)로 만들어 훑어보고 문제 이미지 35장을 확인해 제외했다.</a:t>
            </a:r>
          </a:p>
        </p:txBody>
      </p:sp>
      <p:pic>
        <p:nvPicPr>
          <p:cNvPr id="10" name="Picture 9" descr="plantdoc_quality_examp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600200"/>
            <a:ext cx="5394960" cy="286018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63640" y="4526280"/>
            <a:ext cx="5394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1">
                <a:solidFill>
                  <a:srgbClr val="5B5E6B"/>
                </a:solidFill>
                <a:latin typeface="Calibri"/>
              </a:rPr>
              <a:t>실제 제외 사례: 4개 질병을 합친 비교 콜라주가 스파이더마이트 폴더에 라벨링됨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257800"/>
            <a:ext cx="11091672" cy="11887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746장 → 709장 (35장 제외) / 8개 클래스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742432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Spider mites 폴더는 원본에 단 2장뿐이라(콜라주 제외하면 사실상 무의미) 평가에서 제외했다. 원본은 그대로 두고, 외부평가셋 생성 시에만 35장을 걸러냈다.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4단계 준비 · CORRUPTION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Corruption 변형 데이터 — 어떻게 만들었나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9167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PlantVillage test셋(2,727장, 학습에 안 쓴 held-out) 각각에 6조건×3단계=18가지 변형을 적용해 49,086장을 생성했다. 새로 촬영한 게 아니라 기존 이미지에 코드로 변형을 가한 것이다.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103120"/>
          <a:ext cx="548640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조건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방법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약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중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강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밝기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픽셀값 곱셈(어둡게)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×0.7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×0.5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×0.3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그림자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반투명 검은 타원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면적20%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면적35%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면적50%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반사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반투명 흰 타원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면적18%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면적28%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블러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Gaussian Blur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r=2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r=4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r=7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노이즈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Gaussian noise 추가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std=10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std=25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std=45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8828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가림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회색 사각형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면적15%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면적25%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면적40%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6" name="Picture 5" descr="corruption_mont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2103120"/>
            <a:ext cx="5440680" cy="8630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4023360"/>
            <a:ext cx="5440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1">
                <a:solidFill>
                  <a:srgbClr val="5B5E6B"/>
                </a:solidFill>
                <a:latin typeface="Calibri"/>
              </a:rPr>
              <a:t>강도 3단계(level3) 예시 — 원본 대비 시각적 변화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4480560"/>
            <a:ext cx="5440680" cy="160020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46520" y="4617720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재현성 + 학습과의 분리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4937760"/>
            <a:ext cx="502920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그림자·반사·가림 위치는 파일명 기반 시드로 이미지마다 다르지만 재실행해도 동일하게 재현된다. data/corrupted/는 학습 경로(data/.../train/)와 물리적으로 분리돼 있어 학습 데이터 증강으로 절대 쓰이지 않는다.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 QA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데이터 품질 검증 — 무결성 · 중복 · 불균형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11091672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691639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무결성 검사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3017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EB6834"/>
                </a:solidFill>
                <a:latin typeface="Cambria"/>
              </a:rPr>
              <a:t>20,284장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1719072"/>
            <a:ext cx="740664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PIL Image.verify()+load()로 전수 검사. 콘텐츠 문제 0건 (PlantDoc의 RGBA PNG 1건은 로더가 항상 RGB로 변환하므로 무해).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127248"/>
            <a:ext cx="11091672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3264408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train/test leakage (수정 완료)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630168"/>
            <a:ext cx="3017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EB6834"/>
                </a:solidFill>
                <a:latin typeface="Cambria"/>
              </a:rPr>
              <a:t>0건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3291840"/>
            <a:ext cx="740664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perceptual hash(dHash, 64bit)로 측정한 결과 완전 동일(distance=0) 이미지가 test-train 3장·val-train 4장 발견됐다. 같은 사진이 train/test에 나뉘면 정확도가 부풀려질 위험이 있어, dHash가 같은 이미지를 그룹으로 묶어 하나의 split에만 배정하는 그룹 단위 분할로 개선하고 재학습했다. 재검증 결과 완전 동일 0건 — 근접중복(distance≤5, 0.77~0.88%)은 이번 수정 범위 밖이라 비슷한 수준으로 남아있다.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700016"/>
            <a:ext cx="11091672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4837176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클래스 불균형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202936"/>
            <a:ext cx="3017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EB6834"/>
                </a:solidFill>
                <a:latin typeface="Cambria"/>
              </a:rPr>
              <a:t>14.36배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4864607"/>
            <a:ext cx="740664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보정(class weight, 오버샘플링) 없이 자연 분포 그대로 학습에 사용 — 실험 설계상의 의도적 선택.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MODEL DESIGN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경량 모델 설계 원칙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664207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입력 해상도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21031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A78D6"/>
                </a:solidFill>
                <a:latin typeface="Calibri"/>
              </a:rPr>
              <a:t>224×224 → 128×128로 축소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063240" y="1691639"/>
            <a:ext cx="0" cy="0"/>
          </a:xfrm>
          <a:prstGeom prst="line">
            <a:avLst/>
          </a:prstGeom>
          <a:ln w="12700">
            <a:solidFill>
              <a:srgbClr val="E3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246120" y="1673352"/>
            <a:ext cx="8229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연산량·메모리를 줄이되, 병반 형태를 구분할 수 있는 최소 해상도는 유지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542032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2651760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필터·층 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999232"/>
            <a:ext cx="21031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A78D6"/>
                </a:solidFill>
                <a:latin typeface="Calibri"/>
              </a:rPr>
              <a:t>3~4개 conv 블록만 사용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063240" y="2679192"/>
            <a:ext cx="0" cy="0"/>
          </a:xfrm>
          <a:prstGeom prst="line">
            <a:avLst/>
          </a:prstGeom>
          <a:ln w="12700">
            <a:solidFill>
              <a:srgbClr val="E3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246120" y="2660904"/>
            <a:ext cx="8229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채널도 32→64→128 수준으로 제한해 파라미터 수 자체를 억제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529584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960" y="3639312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합성곱 종류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986784"/>
            <a:ext cx="21031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A78D6"/>
                </a:solidFill>
                <a:latin typeface="Calibri"/>
              </a:rPr>
              <a:t>Depthwise Separable Conv 검토 (C 모델)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063240" y="3666744"/>
            <a:ext cx="0" cy="0"/>
          </a:xfrm>
          <a:prstGeom prst="line">
            <a:avLst/>
          </a:prstGeom>
          <a:ln w="12700">
            <a:solidFill>
              <a:srgbClr val="E3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246120" y="3648456"/>
            <a:ext cx="8229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일반 conv 대비 FLOPs를 크게 줄이는 효과를 B와 직접 비교해 검증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517136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60" y="4626864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분류부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974336"/>
            <a:ext cx="21031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endParaRPr/>
          </a:p>
        </p:txBody>
      </p:sp>
      <p:cxnSp>
        <p:nvCxnSpPr>
          <p:cNvPr id="22" name="Connector 21"/>
          <p:cNvCxnSpPr/>
          <p:nvPr/>
        </p:nvCxnSpPr>
        <p:spPr>
          <a:xfrm>
            <a:off x="3063240" y="4654296"/>
            <a:ext cx="0" cy="0"/>
          </a:xfrm>
          <a:prstGeom prst="line">
            <a:avLst/>
          </a:prstGeom>
          <a:ln w="12700">
            <a:solidFill>
              <a:srgbClr val="E3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3246120" y="4636008"/>
            <a:ext cx="8229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공간 정보를 평균으로 압축해 완전연결층의 거대한 파라미터를 제거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504688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2960" y="5614416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규제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961888"/>
            <a:ext cx="21031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A78D6"/>
                </a:solidFill>
                <a:latin typeface="Calibri"/>
              </a:rPr>
              <a:t>Dropout 0.3~0.4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063240" y="5641848"/>
            <a:ext cx="0" cy="0"/>
          </a:xfrm>
          <a:prstGeom prst="line">
            <a:avLst/>
          </a:prstGeom>
          <a:ln w="12700">
            <a:solidFill>
              <a:srgbClr val="E3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246120" y="5623560"/>
            <a:ext cx="8229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스크래치 학습이라 과적합 위험이 커서, 모델이 클수록 더 강하게 적용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MODEL DESIGN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Tiny CNN A / B / C — 아키텍처 상세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11091672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181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181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181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 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Tiny CNN-A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Tiny CNN-B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Tiny CNN-C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블록 구성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3블록 (32→64→128)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4블록 (32→64→128→128)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4블록 (32→64→128→128)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합성곱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일반 Conv3x3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일반 Conv3x3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stem 1개 일반 + 3개 Depthwise Sep.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각 블록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Conv→BN→ReLU→MaxPool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Conv→BN→ReLU→MaxPool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Depthwise→Pointwise→BN→ReLU→MaxPool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분류부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GAP→Dropout(0.3)→FC(10)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GAP→Dropout(0.4)→FC(10)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GAP→Dropout(0.4)→FC(10)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초기화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He normal (전 모델 공통)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89858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파라미터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94,762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242,474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31,498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5074920"/>
            <a:ext cx="11091672" cy="132588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521208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EB6834"/>
                </a:solidFill>
                <a:latin typeface="Calibri"/>
              </a:rPr>
              <a:t>설계 의도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32120"/>
            <a:ext cx="105156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ADCFC"/>
                </a:solidFill>
                <a:latin typeface="Calibri"/>
              </a:rPr>
              <a:t>A = 얼마나 줄여도 버티는가(하한선) · B = 일반 conv로 층을 더 쌓으면 얼마나 나아지는가 · C = B와 같은 깊이인데 Depthwise Separable을 쓰면 파라미터가 얼마나 줄고 성능은 얼마나 유지되는가. 세 모델의 크기 차이(9만~24만)가 RQ3(크기-정확도 트레이드오프)의 비교축이 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MODEL DESIGN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왜 이렇게 설계했는가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08760"/>
            <a:ext cx="11091672" cy="11155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627631"/>
            <a:ext cx="27432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Global Average Pooling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1627631"/>
            <a:ext cx="7818120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Flatten+Dense는 공간 위치마다 별도 가중치를 배워서 마지막 feature map이 조금만 커도 파라미터가 폭발한다(예: 8×8×128 Flatten → Dense(128)만 해도 100만개 이상). GAP은 채널별 평균 1개 값으로 압축해 이 문제를 원천 차단한다.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715768"/>
            <a:ext cx="11091672" cy="11155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2834639"/>
            <a:ext cx="27432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Depthwise Separable Conv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2834639"/>
            <a:ext cx="7818120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일반 Conv(3×3, Cin→Cout)는 Cin×Cout×9번의 곱셈이 필요하지만, Depthwise(채널별 3×3 1번)+Pointwise(1×1로 채널 섞기)로 나누면 연산량이 크게 줄어든다. 채널 수가 클수록(64→128 구간) 절감 효과가 커서, 실측 FLOPs가 tiny_cnn_c에서 1/5.5까지 줄었다.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922776"/>
            <a:ext cx="11091672" cy="11155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4041648"/>
            <a:ext cx="27432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모델별 Dropout 0.3 vs 0.4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4041648"/>
            <a:ext cx="7818120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파라미터가 많을수록(B, C) 과적합 여지가 커서 더 강한 Dropout(0.4)을 적용하고, 가장 작은 A는 애초에 표현력이 제한적이라 0.3으로 완화했다.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129784"/>
            <a:ext cx="11091672" cy="11155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960" y="5248656"/>
            <a:ext cx="27432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128×128 입력 해상도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5248656"/>
            <a:ext cx="7818120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224×224 대비 연산량이 (224/128)²≈3배 줄어든다. 병반은 잎 전체 대비 상당한 면적을 차지해서 128px에서도 형태 구분이 가능하다고 판단했다 — 실측 정확도(94~98%)로 검증됨.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TRAINING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학습 설정과 진행 중 겪은 사고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5303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하이퍼파라미터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874519"/>
          <a:ext cx="53035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값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optimizer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Adam (lr=1e-3)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loss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CrossEntropyLoss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batch size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epoch 상한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early stopping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val_loss 4회 연속 미개선 시 중단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434840"/>
            <a:ext cx="5303520" cy="173736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4572000"/>
            <a:ext cx="48463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E2761"/>
                </a:solidFill>
                <a:latin typeface="Calibri"/>
              </a:rPr>
              <a:t>왜 고정 epoch 대신 early stopping인가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074920"/>
            <a:ext cx="48463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스크래치 학습이라 클래스마다 수렴 속도가 다를 수 있어(모자이크바이러스는 train 261장뿐), 고정 숫자보다 "더 안 좋아지면 멈춘다"가 더 안전하다고 판단했다.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508760"/>
            <a:ext cx="5513832" cy="4663440"/>
          </a:xfrm>
          <a:prstGeom prst="roundRect">
            <a:avLst>
              <a:gd name="adj" fmla="val 6000"/>
            </a:avLst>
          </a:prstGeom>
          <a:solidFill>
            <a:srgbClr val="FBEEEA"/>
          </a:solidFill>
          <a:ln w="12700">
            <a:solidFill>
              <a:srgbClr val="F0C4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55080" y="1645920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8A3A24"/>
                </a:solidFill>
                <a:latin typeface="Calibri"/>
              </a:rPr>
              <a:t>⚠ 체크포인트 유실 사고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057400"/>
            <a:ext cx="5074920" cy="393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8A3A24"/>
                </a:solidFill>
                <a:latin typeface="Calibri"/>
              </a:rPr>
              <a:t>세션이 중단되면서 tiny_cnn_b가 12epoch(val_acc 95.77%)까지 학습된 상태로 통째로 날아갔다 — 당시 코드가 학습이 다 끝난 시점에만 가중치를 저장하는 구조였기 때문이다.</a:t>
            </a:r>
          </a:p>
          <a:p>
            <a:pPr algn="l">
              <a:lnSpc>
                <a:spcPct val="140000"/>
              </a:lnSpc>
            </a:pPr>
            <a:endParaRPr sz="1100" b="0" i="0">
              <a:solidFill>
                <a:srgbClr val="8A3A24"/>
              </a:solidFill>
              <a:latin typeface="Calibri"/>
            </a:endParaRP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8A3A24"/>
                </a:solidFill>
                <a:latin typeface="Calibri"/>
              </a:rPr>
              <a:t>수정: val_loss가 개선될 때마다 즉시 디스크에 저장하고, epoch마다 로그 파일도 다시 써서, 중간에 끊겨도 그 시점까지의 best 가중치와 전체 이력이 남도록 구조를 바꿨다. 이후 재학습부터는 배치 단위 진행 로그도 추가해 실시간 모니터링이 가능해졌다.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1 · INTERNAL ACCURACY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내부 성능 — V2 vs V1, 상세 해석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508760"/>
          <a:ext cx="5212080" cy="2468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989320" y="1508760"/>
          <a:ext cx="5669280" cy="2468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160520"/>
            <a:ext cx="11091672" cy="23317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429768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해석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663440"/>
            <a:ext cx="1051560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세 모델 다 V1 최고 기록(EfficientNetB0 86.21%)을 큰 폭으로 앞선다 — tiny_cnn_b는 +12.21%p.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macro F1도 정확도와 같은 순서(B 0.9766 &gt; A 0.9572 &gt; C 0.9530)로, 소수 클래스(모자이크바이러스 등)에서도 고르게 잘 분류한다는 뜻이다 — 다수 클래스로의 편향이 아니다.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confusion matrix 기준 "정상" 클래스는 세 모델 다 recall 98~100% — 정상/비정상 구분은 이미 거의 완벽.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tiny_cnn_c(31,498 파라미터)가 tiny_cnn_b(242,474)와 2.16%p 차이라는 점이 RQ1·RQ3에 대한 실질적 답이 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2 · EFFICIENCY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효율성 — 파라미터 · FLOPs · 추론시간, 상세 해석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508760"/>
          <a:ext cx="512064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89320" y="1508760"/>
          <a:ext cx="566928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8293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모델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파라미터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FLOPs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파일크기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CPU추론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293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tiny_cnn_a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94,762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330.3M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0.37MB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3.88ms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293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tiny_cnn_b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242,474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405.8M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0.94MB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7.08ms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293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tiny_cnn_c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31,498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74.4M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0.13MB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6.20ms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069080"/>
            <a:ext cx="11091672" cy="242316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420624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EB6834"/>
                </a:solidFill>
                <a:latin typeface="Calibri"/>
              </a:rPr>
              <a:t>해석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72000"/>
            <a:ext cx="1051560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30" b="0" i="0">
                <a:solidFill>
                  <a:srgbClr val="CADCFC"/>
                </a:solidFill>
                <a:latin typeface="Calibri"/>
              </a:rPr>
              <a:t>• tiny_cnn_c는 FLOPs가 나머지 둘의 1/5~1/5.5 수준이면서 정확도는 B 대비 2.16%p 차이 — Depthwise Separable Conv로 82% 이상 FLOPs를 줄이면서도 정확도는 크게 희생하지 않는다는 트레이드오프가 실측으로 확인됨(RQ3).</a:t>
            </a:r>
          </a:p>
          <a:p>
            <a:pPr algn="l">
              <a:lnSpc>
                <a:spcPct val="125000"/>
              </a:lnSpc>
            </a:pPr>
            <a:r>
              <a:rPr sz="1030" b="0" i="0">
                <a:solidFill>
                  <a:srgbClr val="CADCFC"/>
                </a:solidFill>
                <a:latin typeface="Calibri"/>
              </a:rPr>
              <a:t>• 다만 CPU 추론시간은 FLOPs 순서와 일치하지 않는다(a 3.88ms &lt; c 6.20ms &lt; b 7.08ms, FLOPs는 c&lt;a&lt;b) — Depthwise Separable Conv는 연산을 작은 커널로 쪼개기 때문에 FLOPs는 적어도 CPU에서 커널 호출·캐시 오버헤드가 상대적으로 커질 수 있다. 즉 FLOPs만으로 실제 지연시간을 예단하기 어렵다는 뜻이며, 메모리·저장공간(파일크기 0.13MB vs 0.94MB)에서는 여전히 tiny_cnn_c가 확실히 유리하다.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3 · ROBUSTNESS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Corruption 강건성 — 조건별 해석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63040"/>
          <a:ext cx="11091672" cy="2606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4251960"/>
            <a:ext cx="11091672" cy="2240280"/>
          </a:xfrm>
          <a:prstGeom prst="roundRect">
            <a:avLst>
              <a:gd name="adj" fmla="val 6000"/>
            </a:avLst>
          </a:prstGeom>
          <a:solidFill>
            <a:srgbClr val="FBEEEA"/>
          </a:solidFill>
          <a:ln w="12700">
            <a:solidFill>
              <a:srgbClr val="F0C4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438912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8A3A24"/>
                </a:solidFill>
                <a:latin typeface="Calibri"/>
              </a:rPr>
              <a:t>왜 밝기·블러에 유독 약한가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8A3A24"/>
                </a:solidFill>
                <a:latin typeface="Calibri"/>
              </a:rPr>
              <a:t>학습에 밝기/블러 계열 증강을 전혀 쓰지 않았기 때문이다 — 모델이 훈련 중 한 번도 접하지 못한 픽셀 분포다. 반사·가림·그림자는 이미지의 '일부 영역'만 바꾸는 국소적 변형이라 나머지 잎 형태 정보가 살아있는 반면, 밝기는 전체 픽셀 강도 분포 자체를 이동시키고 블러는 병반의 경계(고주파 성분)를 직접 지워버려서 국소 변형보다 훨씬 치명적이다.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623560"/>
            <a:ext cx="105156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8A3A24"/>
                </a:solidFill>
                <a:latin typeface="Calibri"/>
              </a:rPr>
              <a:t>모델별로는 tiny_cnn_b가 평균 저하율 25.91%로 가장 강건하고, tiny_cnn_a가 32.92%로 가장 취약하다 — 파라미터가 적을수록 결정 경계가 더 좁아 왜곡에 민감해지는 경향으로 해석된다.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4 · EXTERNAL GENERALIZATION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외부 데이터 일반화 — 3개 데이터셋 비교 해석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63040"/>
          <a:ext cx="11091672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4434840"/>
            <a:ext cx="11091672" cy="205740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457200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핵심 해석: 클래스 커버리지는 원인이 아니다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80" b="0" i="0">
                <a:solidFill>
                  <a:srgbClr val="1A1A1A"/>
                </a:solidFill>
                <a:latin typeface="Calibri"/>
              </a:rPr>
              <a:t>PlantDoc(8/10 클래스)이 Taiwan(3/10)보다 훨씬 많이 겹치는데도 정확도는 오히려 Taiwan보다 낮거나 비슷하다(세 모델 모두 PlantDoc &lt; Taiwan). 만약 문제가 "클래스 불일치"였다면 PlantDoc에서 뚜렷이 개선됐어야 하는데 그렇지 않았다 — 즉 원인은 클래스 매핑이 아니라 촬영 환경(조명·배경·해상도·구도) 자체의 분포 차이(domain shift)다. 내부 정확도가 96~98%로 V1보다 훨씬 높아졌는데도 외부에서는 V1과 비슷한 범위(9~31%)로 급락한다는 점이 "모델을 더 잘 만드는 것"과 "실제 환경에 일반화되는 것"이 별개의 문제임을 보여준다.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SUMMARY TABLE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종합 비교표 (판단 없이 자료만)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00200"/>
          <a:ext cx="11091671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990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모델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내부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Corrupt.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Taiwan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Bangla.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PlantDoc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tiny_cnn_b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V2·실측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98.42%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25.91%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29.30%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18.26%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23.55%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tiny_cnn_a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V2·실측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96.59%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32.92%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26.75%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17.62%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23.70%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tiny_cnn_c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V2·실측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96.26%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30.35%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25.16%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15.44%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20.03%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efficientnetb0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V1·인용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86.21%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25.16%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18.09%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mobilenetv2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V1·인용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84.42%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29.30%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12.95%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baseline_cnn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V1·인용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83.32%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30.89%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9.46%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efficientnetb0_cw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V1·인용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82.30%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23.25%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12.67%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densenet121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V1·인용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80.58%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28.98%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11.02%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760720"/>
            <a:ext cx="110916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1">
                <a:solidFill>
                  <a:srgbClr val="5B5E6B"/>
                </a:solidFill>
                <a:latin typeface="Calibri"/>
              </a:rPr>
              <a:t>V1은 PlantDoc/효율성/corruption을 측정한 적 없어 해당 칸은 비워둠(—). 이 표는 비교 자료이며 최종 모델 판단은 포함하지 않았다.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5 · FINAL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최종 모델 선정 — tiny_cnn_c, 96px, bicubic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0"/>
            <a:ext cx="110916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1">
                <a:solidFill>
                  <a:srgbClr val="5B5E6B"/>
                </a:solidFill>
                <a:latin typeface="Calibri"/>
              </a:rPr>
              <a:t>구조는 tiny_cnn_c(8배 작고 seed 재현성 최고)를 선택하고, 64/96/128/224px × 4개 보간법 13개 조합을 비교했다. 96px bicubic은 외부 1위(128px bicubic)와 0.1~0.3%p 차이면서 학습 시간은 21% 더 짧아 경량화 목표에 가장 부합하는 균형점으로 최종 선택했다.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00200"/>
          <a:ext cx="914400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설정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내부 정확도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외부 평균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학습 시간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128px bilinear (기존 기준)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96.26%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20.21%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68.5분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128px box (내부 정확도 최고)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96.96%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21.89%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113.3분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96px bicubic (최종 선택)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96.59%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23.02%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75.9분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128px bicubic (외부 1위)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96.66%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23.31%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95.7분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6 · SEED REPRODUCIBILITY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Seed 재현성 — 42 / 123 / 2026 반복실험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0"/>
            <a:ext cx="110916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1">
                <a:solidFill>
                  <a:srgbClr val="5B5E6B"/>
                </a:solidFill>
                <a:latin typeface="Calibri"/>
              </a:rPr>
              <a:t>config.SEEDS=[42,123,2026] 3개 seed로 전부 재학습·재평가했다. tiny_cnn_b가 정확도는 가장 높지만 seed 간 편차도 가장 크고(±0.64%p), tiny_cnn_c는 편차가 0.25%p로 세 모델 중 가장 안정적이다 — 최종 모델 선정에서 이 재현성도 함께 고려했다.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00200"/>
          <a:ext cx="914400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98298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모델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내부 정확도 (평균±표준편차)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Corruption 평균 저하율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비고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8298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tiny_cnn_a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96.36% ± 0.46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31.28%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8298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tiny_cnn_b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97.64% ± 0.64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26.37% (최선)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편차 최대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8298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tiny_cnn_c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96.46% ± 0.25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29.74%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재현성 최선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7단계 · WEB PROTOTYPE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웹 대시보드 프로토타입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11091672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777240" y="1755648"/>
            <a:ext cx="566928" cy="566928"/>
          </a:xfrm>
          <a:prstGeom prst="ellipse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755648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0CA30C"/>
                </a:solidFill>
                <a:latin typeface="Calibri"/>
              </a:rPr>
              <a:t>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673352"/>
            <a:ext cx="9966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E2761"/>
                </a:solidFill>
                <a:latin typeface="Calibri"/>
              </a:rPr>
              <a:t>정상/비정상 색상 즉시 표시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984248"/>
            <a:ext cx="99669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초록(정상)/빨강(병해 의심) 카드를 결과 맨 위에 크게 배치 — 병명·설명은 다음 순서로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06040"/>
            <a:ext cx="11091672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777240" y="2761488"/>
            <a:ext cx="566928" cy="566928"/>
          </a:xfrm>
          <a:prstGeom prst="ellipse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2761488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2A78D6"/>
                </a:solidFill>
                <a:latin typeface="Calibri"/>
              </a:rPr>
              <a:t>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679192"/>
            <a:ext cx="9966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E2761"/>
                </a:solidFill>
                <a:latin typeface="Calibri"/>
              </a:rPr>
              <a:t>3개 모델 중 선택 가능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990088"/>
            <a:ext cx="99669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6단계 최종 선정 전이라 tiny_cnn_a/b/c를 사이드바에서 직접 골라 비교 가능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611880"/>
            <a:ext cx="11091672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777240" y="3767328"/>
            <a:ext cx="566928" cy="566928"/>
          </a:xfrm>
          <a:prstGeom prst="ellipse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7240" y="3767328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EB6834"/>
                </a:solidFill>
                <a:latin typeface="Calibri"/>
              </a:rPr>
              <a:t>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3685032"/>
            <a:ext cx="9966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E2761"/>
                </a:solidFill>
                <a:latin typeface="Calibri"/>
              </a:rPr>
              <a:t>클래스별 확률 시각화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3995928"/>
            <a:ext cx="99669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예측 클래스만 강조색으로 표시한 가로 막대 차트로 확신도 전달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617720"/>
            <a:ext cx="11091672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777240" y="4773168"/>
            <a:ext cx="566928" cy="566928"/>
          </a:xfrm>
          <a:prstGeom prst="ellipse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77240" y="4773168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C98500"/>
                </a:solidFill>
                <a:latin typeface="Calibri"/>
              </a:rP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4690872"/>
            <a:ext cx="9966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E2761"/>
                </a:solidFill>
                <a:latin typeface="Calibri"/>
              </a:rPr>
              <a:t>한계 명시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8760" y="5001768"/>
            <a:ext cx="99669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PlantVillage(실험실 환경) 데이터로만 학습 — 실제 환경 정확도 한계를 화면에 경고 문구로 고지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623560"/>
            <a:ext cx="7315200" cy="457200"/>
          </a:xfrm>
          <a:prstGeom prst="roundRect">
            <a:avLst>
              <a:gd name="adj" fmla="val 6000"/>
            </a:avLst>
          </a:prstGeom>
          <a:solidFill>
            <a:srgbClr val="141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77240" y="5742432"/>
            <a:ext cx="6858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ourier New"/>
              </a:rPr>
              <a:t>streamlit run app/streamlit_app.py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-1828800" y="4114800"/>
            <a:ext cx="5486400" cy="5486400"/>
          </a:xfrm>
          <a:prstGeom prst="ellipse">
            <a:avLst/>
          </a:prstGeom>
          <a:solidFill>
            <a:srgbClr val="141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200">
                <a:solidFill>
                  <a:srgbClr val="CADCFC"/>
                </a:solidFill>
                <a:latin typeface="Calibri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05840"/>
            <a:ext cx="91440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mbria"/>
              </a:rPr>
              <a:t>지금까지의 결론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EB6834"/>
                </a:solidFill>
                <a:latin typeface="Cambria"/>
              </a:rPr>
              <a:t>98.42%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43200"/>
            <a:ext cx="3429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V2 최고 내부 정확도</a:t>
            </a:r>
          </a:p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(tiny_cnn_b, V1 대비 +12.21%p)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17720" y="1874519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EB6834"/>
                </a:solidFill>
                <a:latin typeface="Cambria"/>
              </a:rPr>
              <a:t>13%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720" y="2743200"/>
            <a:ext cx="3429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tiny_cnn_c 파라미터 비율</a:t>
            </a:r>
          </a:p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(B 대비, 정확도 차 2.16%p)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1874519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EB6834"/>
                </a:solidFill>
                <a:latin typeface="Cambria"/>
              </a:rPr>
              <a:t>~20%대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2743200"/>
            <a:ext cx="3429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3개 외부셋 공통 정확도</a:t>
            </a:r>
          </a:p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(클래스 커버리지 무관 — domain shift)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794760"/>
            <a:ext cx="10515600" cy="0"/>
          </a:xfrm>
          <a:prstGeom prst="line">
            <a:avLst/>
          </a:prstGeom>
          <a:ln w="12700">
            <a:solidFill>
              <a:srgbClr val="3C4A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402336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Calibri"/>
              </a:rPr>
              <a:t>다음 단계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434840"/>
            <a:ext cx="103327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FFFFFF"/>
                </a:solidFill>
                <a:latin typeface="Calibri"/>
              </a:rPr>
              <a:t>6단계 완료 — tiny_cnn_c, 96px, bicubic을 최종 모델로 선정(경량화·내부·외부·학습시간 종합 고려). 8단계 완료 — AdaBN/TENT의 negative transfer를 class-restriction 마스킹으로 해결하고, SHOT(epoch=2)+AaD 하이브리드를 최종 채택(3-seed 검증, Bangladesh +3.1%p). 오라클 실험으로 "전부 60%" 목표가 PlantDoc(표현력 한계)·Bangladesh(오라클 자체가 58.6%)에서는 구조적으로 어렵다는 것도 확인. app/streamlit_app.py의 DEFAULT_MODEL 교체로 7단계 배포 가능(DA는 연구·진단용이라 배포 모델엔 미반영).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349240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CADCFC"/>
                </a:solidFill>
                <a:latin typeface="Calibri"/>
              </a:rPr>
              <a:t>이번 보고서에서 새로 다룬 내용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669280"/>
            <a:ext cx="103327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1">
                <a:solidFill>
                  <a:srgbClr val="B8C2E8"/>
                </a:solidFill>
                <a:latin typeface="Calibri"/>
              </a:rPr>
              <a:t>최종 모델 선정(해상도×보간법 13개 조합 비교) · seed 42/123/2026 반복실험(재현성) · Domain Adaptation 전 과정(negative transfer → 마스킹 → SHOT → EATA/UPA/R-GV/AaD/CoWA 비교 → SHOT+AaD 최종 채택, 3-seed 검증) · 오라클 실험 기반 60% 목표 현실성 진단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(9/9)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추가 검증: 모델을 더 줄이면 과적합이 줄어들까?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0000"/>
            <a:ext cx="11091672" cy="9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교수님 피드백: SHOT이 epoch 2만 넘어도 과적합되는 건 모델 용량 때문 아니냐 — 채널을 32→32→64→64로 절반 줄여보라는 제안. tiny_cnn_c_lite(10.2K 파라미터, 기존의 약 1/3)를 96px·bilinear로 추가 학습해 검증했다.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250000"/>
          <a:ext cx="6700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0000"/>
                <a:gridCol w="1900000"/>
                <a:gridCol w="1900000"/>
              </a:tblGrid>
              <a:tr h="480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tiny_cnn_c (31.5K)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tiny_cnn_c_lite (10.2K)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내부 정확도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96.59%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95.34%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Taiwan (SHOT ep2)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42.04%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37.90%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Bangladesh (SHOT ep2)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30.79%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21.07%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PlantDoc (SHOT ep2)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19.46% (F1 0.18)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22.57% (F1 0.20)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</a:tbl>
          </a:graphicData>
        </a:graphic>
      </p:graphicFrame>
      <p:pic>
        <p:nvPicPr>
          <p:cNvPr id="10" name="Picture" descr="SHOT epoch sensitivity chart (tiny_cnn_c_lite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8640" y="2250000"/>
            <a:ext cx="4000000" cy="2599935"/>
          </a:xfrm>
          <a:prstGeom prst="rect">
            <a:avLst/>
          </a:prstGeom>
        </p:spPr>
      </p:pic>
      <p:sp>
        <p:nvSpPr>
          <p:cNvPr id="6" name="TextBox 4"/>
          <p:cNvSpPr txBox="1"/>
          <p:nvPr/>
        </p:nvSpPr>
        <p:spPr>
          <a:xfrm>
            <a:off x="548640" y="4999935"/>
            <a:ext cx="11091672" cy="11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B5E6B"/>
                </a:solidFill>
                <a:latin typeface="Calibri"/>
              </a:rPr>
              <a:t>가설은 데이터셋마다 다르게 맞았다 — Bangladesh는 과적합이 완화됐고(epoch 5까지 계속 개선), PlantDoc은 정확도 자체가 올랐다(19.46%→22.57%, F1 0.18→0.20) — 다만 그 정점이 epoch 1로 더 일찍 온다(작은 모델이 pseudo-label 노이즈에 더 빨리 수렴하는 것으로 보인다). 반면 내부 정확도·Taiwan은 전반적으로 더 낮아져, "모델을 줄이면 전부 좋아진다"는 일관된 결론은 아니다 — 데이터셋마다 적정 모델 크기가 다를 수 있다는 뜻으로 해석한다.</a:t>
            </a:r>
          </a:p>
        </p:txBody>
      </p:sp>
      <p:sp>
        <p:nvSpPr>
          <p:cNvPr id="8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(3/9)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심층 진단: SHOT은 정확히 어디서 성공·실패하는가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0000"/>
            <a:ext cx="11091672" cy="1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target label을 적응에는 전혀 안 쓰고 진단에만 쓰는 세 가지 분석을 추가했다: ① epoch별 pseudo-label 정확도 추적 ② 초기 클래스별 precision/recall 비교 ③ Oracle 상한 실험(실제 정답으로 fine-tuning, stratified 70/30 train/eval 분리).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500000"/>
          <a:ext cx="9800000" cy="16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0000"/>
                <a:gridCol w="3200000"/>
                <a:gridCol w="3800000"/>
              </a:tblGrid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데이터셋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Source(eval split)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Oracle(정답으로 학습)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Taiwan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33.68%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70.53% (+36.9%p)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Bangladesh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22.96%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58.61% (+35.7%p)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PlantDoc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23.47%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23.47% (변화 없음)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4"/>
          <p:cNvSpPr txBox="1"/>
          <p:nvPr/>
        </p:nvSpPr>
        <p:spPr>
          <a:xfrm>
            <a:off x="548640" y="4400000"/>
            <a:ext cx="11091672" cy="19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5B5E6B"/>
                </a:solidFill>
                <a:latin typeface="Calibri"/>
              </a:rPr>
              <a:t>① Taiwan: healthy가 0% precision·recall로 Late_blight에 흡수되는 사각지대(SHOT 후에도 그대로). ② Bangladesh: SHOT이 Late_blight 쏠림을 Target_Spot 쏠림으로 옮길 뿐(recall 0→43%, 대신 Late_blight 60→22%). ③ PlantDoc: source 단계에서 이미 3개 클래스가 0%이고, SHOT을 거쳐도 기존 클래스 recall이 반토막나며 상쇄된다. Oracle 결과: Taiwan·Bangladesh는 정답만 있으면 2배 이상 뛰어 pseudo-label 품질이 핵심 병목임을 확인. PlantDoc은 train 정확도만 19%→27%로 오르고 eval은 그대로(과적합) — 병목이 feature 표현력 자체라는 신호.</a:t>
            </a:r>
          </a:p>
        </p:txBody>
      </p:sp>
      <p:sp>
        <p:nvSpPr>
          <p:cNvPr id="9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(2/9)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최종 결론: “전부 60%” 목표는 구조적으로 불가능하다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0000"/>
            <a:ext cx="11091672" cy="10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오라클 실험(target label로 직접 fine-tuning해 실제로 측정한 결과, stratified 70/30 split·epoch=2 조건)을 “60% 목표” 기준으로 다시 읽으면 데이터셋마다 답이 다르다 — 이건 더 좋은 적응 기법을 못 찾아서가 아니라, 데이터셋 구조 자체가 다른 것이다.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350000"/>
          <a:ext cx="10900000" cy="25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0000"/>
                <a:gridCol w="2900000"/>
                <a:gridCol w="3200000"/>
                <a:gridCol w="2600000"/>
              </a:tblGrid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데이터셋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오라클 실측값(정답 fine-tuning)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60% 가능?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현재 검증된 최고(3-seed)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</a:tr>
              <a:tr h="70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Taiwan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70.53%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6B3A"/>
                          </a:solidFill>
                        </a:rPr>
                        <a:t>가능 (실측 기준)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38.11% ±5.81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0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Bangladesh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58.61%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B3401A"/>
                          </a:solidFill>
                        </a:rPr>
                        <a:t>불가능 (상한 자체가 60% 미달)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27.40% ±3.85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  <a:tr h="70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PlantDoc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23.47%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B3401A"/>
                          </a:solidFill>
                        </a:rPr>
                        <a:t>완전히 불가능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19.09% ±1.18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4"/>
          <p:cNvSpPr txBox="1"/>
          <p:nvPr/>
        </p:nvSpPr>
        <p:spPr>
          <a:xfrm>
            <a:off x="548640" y="5100000"/>
            <a:ext cx="11091672" cy="1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5B5E6B"/>
                </a:solidFill>
                <a:latin typeface="Calibri"/>
              </a:rPr>
              <a:t>Taiwan만 오라클 실측값이 60%를 넘는다(70.53%) — 하이퍼파라미터를 끝까지 밀면 seed42 한 번은 63%까지 봤지만, 3-seed로 검증하면 46.39% ±12.46으로 재현되지 않았다(7/9 슬라이드). Bangladesh는 오라클 실측값(58.61%) 자체가 60%에 못 미쳐 “완벽한 적응 기법”을 찾아도 구조적으로 60%를 보장할 수 없고, PlantDoc은 정답을 줘도 23%라 적응 문제가 아니라 feature 표현력의 문제다 — source 학습 데이터·증강을 바꾸지 않는 한(이 프로젝트 범위 밖) 더 올릴 수 없다는 게 최종 진단이다.</a:t>
            </a:r>
          </a:p>
        </p:txBody>
      </p:sp>
      <p:sp>
        <p:nvSpPr>
          <p:cNvPr id="9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(1/9)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최종 결과: 마스킹 + SHOT + AaD (3-seed 검증 완료)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0000"/>
            <a:ext cx="11091672" cy="10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AdaBN·TENT·SHOT·EATA·UPA·R-GV·AaD·CoWA 등 9가지 방법을 비교했다. 최종 채택: class-restriction 마스킹(항상 적용) + SHOT(epoch=2) + AaD attract/disperse 보조 손실(weight=1.0) — seed 42/123/2026 3회 평균으로 검증된 구성이다.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350000"/>
          <a:ext cx="11200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00000"/>
                <a:gridCol w="2600000"/>
                <a:gridCol w="2600000"/>
                <a:gridCol w="2600000"/>
              </a:tblGrid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방법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Taiwan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Bangladesh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PlantDoc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Source+마스킹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32.27% ±0.79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16.50% ±4.58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20.17% ±1.79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AdaBN+마스킹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35.24% ±2.57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15.14% ±2.44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16.83% ±1.80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SHOT+마스킹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37.58% ±5.86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24.28% ±5.62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19.75% ±1.40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2761"/>
                          </a:solidFill>
                        </a:rPr>
                        <a:t>SHOT+AaD+마스킹(최종)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6B3A"/>
                          </a:solidFill>
                        </a:rPr>
                        <a:t>38.11% ±5.81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6B3A"/>
                          </a:solidFill>
                        </a:rPr>
                        <a:t>27.40% ±3.85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6B3A"/>
                          </a:solidFill>
                        </a:rPr>
                        <a:t>19.09% ±1.18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4"/>
          <p:cNvSpPr txBox="1"/>
          <p:nvPr/>
        </p:nvSpPr>
        <p:spPr>
          <a:xfrm>
            <a:off x="548640" y="4950000"/>
            <a:ext cx="11091672" cy="10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5B5E6B"/>
                </a:solidFill>
                <a:latin typeface="Calibri"/>
              </a:rPr>
              <a:t>Bangladesh만 뚜렷하게 개선됐다(+3.1%p, 표준편차도 5.62→3.85로 감소 — 다만 별도의 통계적 유의성 검정은 하지 않았다). Taiwan·PlantDoc은 SHOT 단독과 평균이 거의 같아 해치지는 않는다. 이어지는 슬라이드는 이 결론에 대한 진단·메커니즘·대안 비교다.</a:t>
            </a:r>
          </a:p>
        </p:txBody>
      </p:sp>
      <p:sp>
        <p:nvSpPr>
          <p:cNvPr id="9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(4/9)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E2761"/>
                </a:solidFill>
                <a:latin typeface="Cambria"/>
              </a:rPr>
              <a:t>메커니즘: 마스킹 + SHOT + AaD는 왜 작동하는가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50000"/>
            <a:ext cx="11091672" cy="15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AdaBN·TENT를 그대로 적용하면 모델이 target에 없는 클래스로 예측을 쏠아버린다(negative transfer — 클래스 겹침이 적을수록 심함, Taiwan 3/10 기준 Source-only 27.39%가 AdaBN 7.64%/TENT 8.28%까지 떨어짐). 해결책은 추가 학습이 필요 없는 class-restriction 마스킹이다 — 데이터 준비 단계에서 이미 아는 “이 데이터셋에 존재하는 클래스” 정보로 로짓에 -inf를 더해 후보에서 제외한다(정답 라벨을 본 게 아니다).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850000"/>
          <a:ext cx="11200000" cy="19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0000"/>
                <a:gridCol w="2600000"/>
                <a:gridCol w="2600000"/>
                <a:gridCol w="3200000"/>
              </a:tblGrid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데이터셋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Source-only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+마스킹만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AdaBN+마스킹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Taiwan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27.39%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32.48%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38.85%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Bangladesh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21.80%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22.34%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15.71%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PlantDoc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19.89%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20.31%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14.81%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4"/>
          <p:cNvSpPr txBox="1"/>
          <p:nvPr/>
        </p:nvSpPr>
        <p:spPr>
          <a:xfrm>
            <a:off x="548640" y="5050000"/>
            <a:ext cx="11091672" cy="1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5B5E6B"/>
                </a:solidFill>
                <a:latin typeface="Calibri"/>
              </a:rPr>
              <a:t>마스킹만으로도 모든 데이터셋에서 개선된다. 여기에 SHOT(pseudo-label cross-entropy + entropy 최소화/다양성 최대화, epoch=2로 고정 — 늘릴수록 Taiwan은 좋아지지만 Bangladesh·PlantDoc은 pseudo-label 과적합으로 꺾이는 트레이드오프 때문)과 AaD(feature 공간 이웃끼리 예측을 맞추는 attract/disperse 항, weight=1.0)를 더해 최종 파이프라인을 완성했다.</a:t>
            </a:r>
          </a:p>
        </p:txBody>
      </p:sp>
      <p:sp>
        <p:nvSpPr>
          <p:cNvPr id="9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(5/9)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E2761"/>
                </a:solidFill>
                <a:latin typeface="Cambria"/>
              </a:rPr>
              <a:t>종합: 그 외 7가지 방법을 시도했지만 못 넘었다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50000"/>
            <a:ext cx="11091672" cy="7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최신·유명 SFDA 방법과 하이퍼파라미터 전략을 추가로 검토했다 — 전부 위 최종 파이프라인(SHOT+AaD)을 넘지 못했고, 각자 다른 이유로 기각했다.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000000"/>
          <a:ext cx="11200000" cy="30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00000"/>
                <a:gridCol w="2600000"/>
                <a:gridCol w="2600000"/>
                <a:gridCol w="2600000"/>
              </a:tblGrid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방법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Taiwan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Bangladesh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PlantDoc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EATA (ICML 2022)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35.35%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20.89%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12.27%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UPA-APS (단독, seed42만)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44.59%*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30.52%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19.04%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UPA-CACL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33~38%대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중립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중립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R-GV (CVPR 2025, 근사)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36.94%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30.61%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17.07%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AaD 단독(클러스터링 없음)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42.36%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20.16%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19.18%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CoWA-JMDS (ICML 2022)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39.81%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31.15%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16.78%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데이터셋별 극단 튜닝(3-seed)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46.39% ±12.46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19.59% ±10.57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4"/>
          <p:cNvSpPr txBox="1"/>
          <p:nvPr/>
        </p:nvSpPr>
        <p:spPr>
          <a:xfrm>
            <a:off x="548640" y="5200000"/>
            <a:ext cx="11091672" cy="1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B5E6B"/>
                </a:solidFill>
                <a:latin typeface="Calibri"/>
              </a:rPr>
              <a:t>*APS는 seed42 단일 실행에서만 좋아 보였고 3-seed 평균은 noise였다. UCon-SFDA(ICLR 2025)는 CACL과 같은 contrastive-loss 계열이라 같은 문제를 겪을 가능성이 높아 구현하지 않고 판단 근거만 남겼다. 공통 패턴: ImageNet급 벤치마크 기준으로 설계된 하이퍼파라미터·구성요소는 이 프로젝트 규모(300~1,100장)에서 전부 재조정이 필요했고, 일부는 재조정으로도 못 고쳤다.</a:t>
            </a:r>
          </a:p>
        </p:txBody>
      </p:sp>
      <p:sp>
        <p:nvSpPr>
          <p:cNvPr id="9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(7/9)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E2761"/>
                </a:solidFill>
                <a:latin typeface="Cambria"/>
              </a:rPr>
              <a:t>실험 방법론 1: 데이터셋별 하이퍼파라미터 탐색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50000"/>
            <a:ext cx="11091672" cy="9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교수님 피드백(데이터셋마다 따로 튜닝해도 된다)에 따라 SHOT의 epoch·cls_loss_weight를 데이터셋별로 그리드서치했다 — Taiwan 24개 조합(epoch 1~10 × weight 0.1~1.0), Bangladesh 50개 이상 조합(epoch 1~7 × weight 0.1~4.0 + class_balance/balanced_cap/exclude-classes/seed-ensemble 변형).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200000"/>
          <a:ext cx="11000000" cy="30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000"/>
                <a:gridCol w="4700000"/>
                <a:gridCol w="4700000"/>
              </a:tblGrid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epoch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Taiwan (최적 weight)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Bangladesh (최적 weight, cb+bcap 포함)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40.76% (w=0.5)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30.43% (w=0.3, +cb+bcap)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E2761"/>
                          </a:solidFill>
                        </a:rPr>
                        <a:t>2 (최종 채택)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48.73% (w=1.0)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31.15% (w=1.0, +cb+bcap)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51.59% (w=0.5)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33.33% (w=2.0, +cb+bcap)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4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6B3A"/>
                          </a:solidFill>
                        </a:rPr>
                        <a:t>34.42% (w=2.0, +cb+bcap) ← 전체 최고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61.46% (w=1.0)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31.70% (w=0.5, +cb+bcap)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7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6B3A"/>
                          </a:solidFill>
                        </a:rPr>
                        <a:t>63.06% (w=1.0) ← 전체 최고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30.61% (w=0.3+APS)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56.37% (w=0.5, 과적합 시작)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4"/>
          <p:cNvSpPr txBox="1"/>
          <p:nvPr/>
        </p:nvSpPr>
        <p:spPr>
          <a:xfrm>
            <a:off x="548640" y="5400000"/>
            <a:ext cx="11091672" cy="10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B5E6B"/>
                </a:solidFill>
                <a:latin typeface="Calibri"/>
              </a:rPr>
              <a:t>Taiwan은 epoch·weight를 올릴수록 계속 좋아지다 epoch=10에서 과적합으로 꺾인다. Bangladesh는 epoch=4·weight=2.0(class_balance+balanced_cap 병행)에서 정점(34.42%) 후 하락한다. 하지만 두 정점(63.06%, 34.42%) 모두 seed42 단일 실행이고, 3-seed로 검증하면 재현되지 않았다(1/9 슬라이드 데이터와 같은 결론) — 그래서 최종 채택은 정점이 아니라 epoch=2(공통 고정값)다.</a:t>
            </a:r>
          </a:p>
        </p:txBody>
      </p:sp>
      <p:sp>
        <p:nvSpPr>
          <p:cNvPr id="9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(8/9)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E2761"/>
                </a:solidFill>
                <a:latin typeface="Cambria"/>
              </a:rPr>
              <a:t>실험 방법론 2: Loss 함수·보조 항 하이퍼파라미터 조율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50000"/>
            <a:ext cx="11091672" cy="9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SHOT의 기본 loss(pseudo-label CE + information-maximization) 위에 여러 보조 항을 추가로 시도하면서, 각 항의 가중치·범위를 조율했다 — 모두 target label 없이 pseudo-label/feature 구조만으로 조정했다.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250000"/>
          <a:ext cx="11000000" cy="26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000"/>
                <a:gridCol w="2400000"/>
                <a:gridCol w="2700000"/>
                <a:gridCol w="2700000"/>
              </a:tblGrid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하이퍼파라미터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테스트 범위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최종/최적값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효과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SHOT cls_loss_weight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0.1 ~ 4.0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0.3(기본)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pseudo-label CE 비중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AaD disperse_weight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0.5 ~ 4.0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6B3A"/>
                          </a:solidFill>
                        </a:rPr>
                        <a:t>1.0 (3-seed 최적)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비-이웃과 밀어내는 강도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AaD k (이웃 수)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2, 4, 8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4(기본, k=2도 유사)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attract 대상 범위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APS gamma(신뢰도 임계값)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0.6 ~ 1.0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1.0(필터링 없음)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기각: 3-seed에서 noise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CoWA model_weight_alpha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0.2 ~ 0.8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0.5(차이 미미)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model vs data score 비중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balanced_cap ratio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0.8 ~ 1.5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1.0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클래스별 할당 상한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4"/>
          <p:cNvSpPr txBox="1"/>
          <p:nvPr/>
        </p:nvSpPr>
        <p:spPr>
          <a:xfrm>
            <a:off x="548640" y="5050000"/>
            <a:ext cx="11091672" cy="1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B5E6B"/>
                </a:solidFill>
                <a:latin typeface="Calibri"/>
              </a:rPr>
              <a:t>SHOT의 cls_loss_weight와 AaD의 disperse_weight가 가장 민감했다 — 둘 다 올릴수록 seed42 정확도는 계속 올라가는 패턴이라 극단값을 고르고 싶은 유혹이 컸다. 하지만 3-seed 검증에서 이 “계속 오르는” 패턴 자체가 seed42 과적합 신호였음을 확인했다 — 그래서 최종값은 seed42 최고점이 아니라 3-seed 평균이 가장 안정적인 지점(disperse_weight=1.0)으로 정했다.</a:t>
            </a:r>
          </a:p>
        </p:txBody>
      </p:sp>
      <p:sp>
        <p:nvSpPr>
          <p:cNvPr id="9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(6/9)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E2761"/>
                </a:solidFill>
                <a:latin typeface="Cambria"/>
              </a:rPr>
              <a:t>최종 채택 이후 추가 탐색: Prototype 개선 · TTA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50000"/>
            <a:ext cx="11091672" cy="10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SHOT+AaD(weight=1.0)를 최종 채택한 뒤, 이를 더 밀어올릴 수 있는지 두 가지 다른 메커니즘을 추가로 시도했다 — 클러스터 중심(prototype)의 품질을 높이는 방법과, pseudo-label을 만들 때 입력 자체의 노이즈를 줄이는 TTA(좌우반전 평균). 전부 SHOT+AaD를 최종으로 유지하는 결론으로 끝났다.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300000"/>
          <a:ext cx="11400000" cy="22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00000"/>
                <a:gridCol w="1900000"/>
                <a:gridCol w="1900000"/>
                <a:gridCol w="1700000"/>
                <a:gridCol w="2900000"/>
              </a:tblGrid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방법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Taiwan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Bangladesh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PlantDoc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검증 결과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confident-prototype(hard, frac=0.5)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45.22%*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27.07%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20.17%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B3401A"/>
                          </a:solidFill>
                        </a:rPr>
                        <a:t>3-seed: 31.85%±11.33 → 기각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prototype-sharpen(soft, γ=2~4)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40.5~42.4%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29.8~30.1%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18.3%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단일seed, SHOT 못 넘음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TTA(좌우반전 평균)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40.13%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31.70%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18.76%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단일seed, 혼재(Bangladesh만 소폭↑)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TTA + AaD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39.49%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32.33%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단일seed, Taiwan 하락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SHOT+AaD, epoch=7(Taiwan만)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43.42%±10.52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3-seed: 평균↑ 표준편차도 2배↑ → 채택 보류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4"/>
          <p:cNvSpPr txBox="1"/>
          <p:nvPr/>
        </p:nvSpPr>
        <p:spPr>
          <a:xfrm>
            <a:off x="548640" y="4650000"/>
            <a:ext cx="11091672" cy="17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B5E6B"/>
                </a:solidFill>
                <a:latin typeface="Calibri"/>
              </a:rPr>
              <a:t>*confident-prototype(hard)는 seed42에서 Taiwan의 healthy 블라인드스팟을 실제로 풀었다(recall 0%→34.9%, precision 84%) — 하지만 3-seed로 검증하니 seed123이 17.52%(3클래스 랜덤 확률보다도 낮음)로 완전히 무너졌다. 작은/애매한 클래스는 “확신 있는 멤버”가 seed에 따라 아예 없거나 전부 오답일 수 있다는 뜻이다. soft 버전(sharpen)·TTA는 극단적으로 무너지진 않지만 SHOT+AaD를 넘는 신호가 보이지 않아 3-seed 검증 없이 기각했다. 지금까지 시도한 8개 방향 중 3-seed 검증을 통과한 것은 SHOT+AaD(weight=1.0, 공통)뿐이다.</a:t>
            </a:r>
          </a:p>
        </p:txBody>
      </p:sp>
      <p:sp>
        <p:nvSpPr>
          <p:cNvPr id="9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</TotalTime>
  <Words>4127</Words>
  <Application>Microsoft Office PowerPoint</Application>
  <PresentationFormat>와이드스크린</PresentationFormat>
  <Paragraphs>637</Paragraphs>
  <Slides>30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30</vt:i4>
      </vt:variant>
    </vt:vector>
  </HeadingPairs>
  <TitlesOfParts>
    <vt:vector size="35" baseType="lpstr">
      <vt:lpstr>Arial</vt:lpstr>
      <vt:lpstr>Calibri</vt:lpstr>
      <vt:lpstr>Cambria</vt:lpstr>
      <vt:lpstr>Courier New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Tariq Mahmood</cp:lastModifiedBy>
  <cp:revision>2</cp:revision>
  <dcterms:created xsi:type="dcterms:W3CDTF">2013-01-27T09:14:16Z</dcterms:created>
  <dcterms:modified xsi:type="dcterms:W3CDTF">2026-10-02T02:50:41Z</dcterms:modified>
  <cp:category/>
</cp:coreProperties>
</file>