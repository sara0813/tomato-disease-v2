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E2761"/>
                </a:solidFill>
              </a:rPr>
              <a:t>V2 (직접 학습·측정)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tiny_cnn_c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94.99</c:v>
                </c:pt>
                <c:pt idx="1">
                  <c:v>97.29</c:v>
                </c:pt>
                <c:pt idx="2">
                  <c:v>97.66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10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E2761"/>
                </a:solidFill>
              </a:rPr>
              <a:t>V1 (1차 실험 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10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E2761"/>
                </a:solidFill>
              </a:rPr>
              <a:t>FLOPs (백만)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10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9.19</c:v>
                </c:pt>
                <c:pt idx="1">
                  <c:v>15.18</c:v>
                </c:pt>
                <c:pt idx="2">
                  <c:v>27.02</c:v>
                </c:pt>
                <c:pt idx="3">
                  <c:v>33.78</c:v>
                </c:pt>
                <c:pt idx="4">
                  <c:v>50.71</c:v>
                </c:pt>
                <c:pt idx="5">
                  <c:v>68.78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3.67</c:v>
                </c:pt>
                <c:pt idx="1">
                  <c:v>9.16</c:v>
                </c:pt>
                <c:pt idx="2">
                  <c:v>7.68</c:v>
                </c:pt>
                <c:pt idx="3">
                  <c:v>37.09</c:v>
                </c:pt>
                <c:pt idx="4">
                  <c:v>49.2</c:v>
                </c:pt>
                <c:pt idx="5">
                  <c:v>60.15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4.84</c:v>
                </c:pt>
                <c:pt idx="1">
                  <c:v>12.47</c:v>
                </c:pt>
                <c:pt idx="2">
                  <c:v>15.83</c:v>
                </c:pt>
                <c:pt idx="3">
                  <c:v>41.2</c:v>
                </c:pt>
                <c:pt idx="4">
                  <c:v>43.8</c:v>
                </c:pt>
                <c:pt idx="5">
                  <c:v>65.0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10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>
                    <a:solidFill>
                      <a:srgbClr val="5B5E6B"/>
                    </a:solidFill>
                  </a:rPr>
                  <a:t>성능 저하율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 (PlantVillage)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94.99</c:v>
                </c:pt>
                <c:pt idx="1">
                  <c:v>97.66</c:v>
                </c:pt>
                <c:pt idx="2">
                  <c:v>97.29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20.38</c:v>
                </c:pt>
                <c:pt idx="1">
                  <c:v>28.03</c:v>
                </c:pt>
                <c:pt idx="2">
                  <c:v>27.39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15.26</c:v>
                </c:pt>
                <c:pt idx="1">
                  <c:v>17.89</c:v>
                </c:pt>
                <c:pt idx="2">
                  <c:v>15.17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10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및 강건성 평가 — V2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CADCFC"/>
                </a:solidFill>
                <a:latin typeface="Calibri"/>
              </a:rPr>
              <a:t>PyTorch 재구현 · 3종 Tiny CNN 직접 설계 · 내부/효율/강건성/외부 4개 축 평가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84632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5029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경량 모델 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64261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내부 성능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64261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효율성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64261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Corruption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64261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외부 데이터 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64261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최종 모델 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보류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64261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92024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19456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502152"/>
            <a:ext cx="1773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웹 시스템 적용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409651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074920"/>
            <a:ext cx="10515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6단계(최종 모델 선정)는 정확도·크기·강건성·일반화 중 무엇을 우선할지 판단이 필요해 의도적으로 보류했다. 2~5단계는 이미 스펙이 확정된 기계적 실행 단계라 순차적으로 완료.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PROCESS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진행하며 마주친 판단들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819656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196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2A78D6"/>
                </a:solidFill>
                <a:latin typeface="Calibri"/>
              </a:rPr>
              <a:t>전환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728216"/>
            <a:ext cx="4343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TensorFlow → PyTorch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57400"/>
            <a:ext cx="43434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아키텍처를 계속 바꿔볼 계획이라 eager execution·nn.Module 구조가 실험 반복에 더 유리하다고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60020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1819656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196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2A78D6"/>
                </a:solidFill>
                <a:latin typeface="Calibri"/>
              </a:rPr>
              <a:t>축소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9" y="1728216"/>
            <a:ext cx="4343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재학습 범위를 3개로 한정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2057400"/>
            <a:ext cx="43434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나머지 4개 모델은 V1이 이미 답을 낸 질문 — CPU로 7개 전부 재학습하면 ~25시간, Tiny CNN 3종에만 집중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99815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319272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192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2A78D6"/>
                </a:solidFill>
                <a:latin typeface="Calibri"/>
              </a:rPr>
              <a:t>수정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227832"/>
            <a:ext cx="4343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체크포인트 유실 사고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557015"/>
            <a:ext cx="43434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세션 중단으로 tiny_cnn_b 12epoch 분량 유실 — val_loss 개선 시마다 즉시 디스크 저장하도록 구조 변경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099815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0" y="3319272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192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2A78D6"/>
                </a:solidFill>
                <a:latin typeface="Calibri"/>
              </a:rPr>
              <a:t>보정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59" y="3227832"/>
            <a:ext cx="4343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Bangladesh bbox 마진 보정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557015"/>
            <a:ext cx="43434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bbox가 병반 하나만 표시해 77%가 128px 미만 — 40% 여백 + 최소 96px 보장으로 재작업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99431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48188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818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2A78D6"/>
                </a:solidFill>
                <a:latin typeface="Calibri"/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727447"/>
            <a:ext cx="4343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PlantVillage leakage 검사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056631"/>
            <a:ext cx="43434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train/test 간 근접중복 이미지 비율 0.62~0.88%로 무시 가능한 수준 확인, 재분할 없이 진행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99431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818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2A78D6"/>
                </a:solidFill>
                <a:latin typeface="Calibri"/>
              </a:rPr>
              <a:t>원칙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4727447"/>
            <a:ext cx="4343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Corruption은 평가 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59" y="5056631"/>
            <a:ext cx="43434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학습 데이터 증강은 쓰지 않고, test셋에만 변형을 별도 폴더에 생성해 강건성만 측정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데이터 준비 — 원본은 건드리지 않고 새 폴더로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mbria"/>
              </a:rPr>
              <a:t>18,160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PlantVillage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07791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70/15/15 층화분할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(train 12,707 · val 2,719 · test 2,734)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6459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874519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mbria"/>
              </a:rPr>
              <a:t>314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514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Taiwan 외부셋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907791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Train+Test 병합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(3개 클래스만 대응)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3" y="16459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874519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mbria"/>
              </a:rPr>
              <a:t>1,101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514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Bangladesh 외부셋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907791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YOLO bbox 크롭 + 여백보정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5E6B"/>
                </a:solidFill>
                <a:latin typeface="Calibri"/>
              </a:rPr>
              <a:t>(6개 클래스 대응)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34856" y="16459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72016" y="1874519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B6834"/>
                </a:solidFill>
                <a:latin typeface="Cambria"/>
              </a:rPr>
              <a:t>49,212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2016" y="2514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Corruption 이미지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907791"/>
            <a:ext cx="2331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CADCFC"/>
                </a:solidFill>
                <a:latin typeface="Calibri"/>
              </a:rPr>
              <a:t>test셋 × 6조건 × 3단계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CADCFC"/>
                </a:solidFill>
                <a:latin typeface="Calibri"/>
              </a:rPr>
              <a:t>(밝기·그림자·반사·블러·노이즈·가림)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51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00600"/>
            <a:ext cx="10424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✓  이미지 무결성 검사 — 19,575장 전수 검사, 손상 파일 0건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✓  클래스 불균형 기록 — PlantVillage 14.36배 (보정 없이 자연 분포 그대로 학습에 사용)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✓  train/test 근접중복(leakage) 검사 — perceptual hash 기준 0.62~0.88%, 재분할 불필요로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Tiny CNN 3종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2761"/>
                </a:solidFill>
                <a:latin typeface="Cambria"/>
              </a:rPr>
              <a:t>Tiny CNN-A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2199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EB6834"/>
                </a:solidFill>
                <a:latin typeface="Calibri"/>
              </a:rPr>
              <a:t>최소형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2697480"/>
            <a:ext cx="306324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2834640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94,762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107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5E6B"/>
                </a:solidFill>
                <a:latin typeface="Calibri"/>
              </a:rPr>
              <a:t>파라미터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3블록 · 일반 Conv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292608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E2761"/>
                </a:solidFill>
                <a:latin typeface="Cambria"/>
              </a:rPr>
              <a:t>Tiny CNN-B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2199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EB6834"/>
                </a:solidFill>
                <a:latin typeface="Calibri"/>
              </a:rPr>
              <a:t>중간형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2697480"/>
            <a:ext cx="306324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0" y="2834640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242,474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107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5E6B"/>
                </a:solidFill>
                <a:latin typeface="Calibri"/>
              </a:rPr>
              <a:t>파라미터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947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4블록 · 일반 Conv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600200"/>
            <a:ext cx="3520440" cy="29260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82880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Tiny CNN-C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22199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AB6F5"/>
                </a:solidFill>
                <a:latin typeface="Calibri"/>
              </a:rPr>
              <a:t>Depthwise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66760" y="2697480"/>
            <a:ext cx="306324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366760" y="2834640"/>
            <a:ext cx="3063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31,498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4107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947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4블록 · Depthwise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Separable Conv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0060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83480"/>
            <a:ext cx="105156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E2761"/>
                </a:solidFill>
                <a:latin typeface="Calibri"/>
              </a:rPr>
              <a:t>Tiny CNN-C는 B와 같은 깊이(4블록)인데 파라미터는 B의 13% — Depthwise Separable Conv의 경량화 효과가 설계 의도대로 확인됨. 실측 정확도는 다음 장에서 확인.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RESULT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내부 성능 — V2 Tiny CNN vs V1 인용 모델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52120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54480"/>
          <a:ext cx="566928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11091672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29260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+11.45%p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754880"/>
            <a:ext cx="7498079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tiny_cnn_b(97.66%)가 V1 최고 기록 EfficientNetB0(86.21%)보다 11.45%p 높다 — 파라미터는 24만개로 EfficientNetB0(수백만개 단위)의 극히 일부 수준.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RESULT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효율성 — 파라미터 · FLOPs · 추론시간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54864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920240"/>
          <a:ext cx="5257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/>
                <a:gridCol w="1314450"/>
                <a:gridCol w="1314450"/>
                <a:gridCol w="131445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0.37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4.98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0.94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4.91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0.13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4.99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11091672" cy="155448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23774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÷5.5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754880"/>
            <a:ext cx="7680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tiny_cnn_c는 FLOPs가 tiny_cnn_b의 1/5.5 수준(74.4M vs 405.8M)이면서 내부 정확도 차이는 0.4%p뿐 — Depthwise Separable 설계의 효율-정확도 트레이드오프가 실측으로 확인됨 (RQ3).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RESULT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Corruption 강건성 — 조건별 평균 저하율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75488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937760"/>
            <a:ext cx="10515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8A3A24"/>
                </a:solidFill>
                <a:latin typeface="Calibri"/>
              </a:rPr>
              <a:t>반사·가림·그림자는 비교적 잘 버티지만(평균 6~17%), 학습 때 쓰지 않은 밝기·블러 변형에는 약한 강도부터 크게 취약(평균 48~65%) — 강건성 개선의 다음 과제.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RESULT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외부 데이터 일반화 — 여전히 남은 문제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223760" y="1554480"/>
            <a:ext cx="4434840" cy="324612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3931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B6834"/>
                </a:solidFill>
                <a:latin typeface="Cambria"/>
              </a:rPr>
              <a:t>약 70%p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5146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내부 vs 외부 정확도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971800"/>
            <a:ext cx="39776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경량화해도 domain shift 자체는 극복하지 못했다. 1차 실험(V1)의 대형 모델도 같은 패턴 (Taiwan 23~31%, Bangladesh 9~18%) — 모델 크기의 문제가 아니라는 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→ 이 프로젝트의 핵심 문제의식이 재확인됨: "더 좋은 모델"이 아니라 "실제 환경 일반화" 자체가 다음 연구 과제.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2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  <a:gridCol w="2221992"/>
                <a:gridCol w="1783080"/>
                <a:gridCol w="178308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내부 Acc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Corruption 평균저하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V2 · 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97.66%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27.83%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28.03%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17.89%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V2 · 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97.29%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15.17%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V2 · 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94.99%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34.11%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20.38%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15.26%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V1 · 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V1 · 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V1 · 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V1 · 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V1 · 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이 표는 비교 자료다. "최종 모델"에 대한 판단/추천은 포함하지 않았다 — V1 모델은 효율성·corruption을 측정하지 않아 해당 칸은 비워둠(—).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7190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99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 / 빨강(병해 의심) 카드를 결과 맨 위에 크게 배치 — 병명·설명은 그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8529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7706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815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 (최종 확정 시 기본값만 교체)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904487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0448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822191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133087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9560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560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8737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1846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촬영 환경에서 정확도가 떨어질 수 있음을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0807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97.66%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(tiny_cnn_b, V1 대비 +11.45%p)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965960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(B 대비, 정확도 차 0.4%p)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65960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외부 데이터 정확도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(경량화해도 미해결 과제)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16052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3891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6단계 — 정확도·크기·강건성·일반화 중 우선순위를 함께 정하고 최종 모델을 선정한다. 선정 후 app/streamlit_app.py의 DEFAULT_MODEL만 교체하면 7단계 배포가 바로 완료된다.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