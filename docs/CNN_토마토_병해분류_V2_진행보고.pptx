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6"/>
    <p:sldId id="277" r:id="rId30"/>
    <p:sldId id="278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4" d="100"/>
          <a:sy n="54" d="100"/>
        </p:scale>
        <p:origin x="62" y="1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  <Relationship Id="rId36" Type="http://schemas.openxmlformats.org/officeDocument/2006/relationships/slide" Target="slides/slide31.xml"/>
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sz="1100">
                <a:solidFill>
                  <a:srgbClr val="1E2761"/>
                </a:solidFill>
              </a:rPr>
              <a:t>V2 (직접 학습)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V2</c:v>
                </c:pt>
              </c:strCache>
            </c:strRef>
          </c:tx>
          <c:spPr>
            <a:solidFill>
              <a:srgbClr val="2A78D6"/>
            </a:solidFill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/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tiny_cnn_c</c:v>
                </c:pt>
                <c:pt idx="1">
                  <c:v>tiny_cnn_a</c:v>
                </c:pt>
                <c:pt idx="2">
                  <c:v>tiny_cnn_b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96.26</c:v>
                </c:pt>
                <c:pt idx="1">
                  <c:v>96.59</c:v>
                </c:pt>
                <c:pt idx="2">
                  <c:v>98.42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C5FD-485D-8DC4-E1A033689C6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E3E6EE"/>
            </a:solidFill>
          </a:ln>
        </c:spPr>
        <c:txPr>
          <a:bodyPr/>
          <a:lstStyle/>
          <a:p>
            <a:pPr>
              <a:defRPr sz="950">
                <a:solidFill>
                  <a:srgbClr val="1A1A1A"/>
                </a:solidFill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5"/>
          <c:min val="0"/>
        </c:scaling>
        <c:delete val="0"/>
        <c:axPos val="b"/>
        <c:majorGridlines>
          <c:spPr>
            <a:ln w="9525">
              <a:solidFill>
                <a:srgbClr val="E3E6EE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E3E6EE"/>
            </a:solidFill>
          </a:ln>
        </c:spPr>
        <c:txPr>
          <a:bodyPr/>
          <a:lstStyle/>
          <a:p>
            <a:pPr>
              <a:defRPr sz="900">
                <a:solidFill>
                  <a:srgbClr val="5B5E6B"/>
                </a:solidFill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sz="1100">
                <a:solidFill>
                  <a:srgbClr val="1E2761"/>
                </a:solidFill>
              </a:rPr>
              <a:t>V1 (인용, 재학습 안 함)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V1</c:v>
                </c:pt>
              </c:strCache>
            </c:strRef>
          </c:tx>
          <c:spPr>
            <a:solidFill>
              <a:srgbClr val="898781"/>
            </a:solidFill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/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densenet121</c:v>
                </c:pt>
                <c:pt idx="1">
                  <c:v>efficientnetb0_cw</c:v>
                </c:pt>
                <c:pt idx="2">
                  <c:v>baseline_cnn</c:v>
                </c:pt>
                <c:pt idx="3">
                  <c:v>mobilenetv2</c:v>
                </c:pt>
                <c:pt idx="4">
                  <c:v>efficientnetb0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80.58</c:v>
                </c:pt>
                <c:pt idx="1">
                  <c:v>82.3</c:v>
                </c:pt>
                <c:pt idx="2">
                  <c:v>83.32</c:v>
                </c:pt>
                <c:pt idx="3">
                  <c:v>84.42</c:v>
                </c:pt>
                <c:pt idx="4">
                  <c:v>86.21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C49C-40EE-8D4C-74A795169B0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E3E6EE"/>
            </a:solidFill>
          </a:ln>
        </c:spPr>
        <c:txPr>
          <a:bodyPr/>
          <a:lstStyle/>
          <a:p>
            <a:pPr>
              <a:defRPr sz="950">
                <a:solidFill>
                  <a:srgbClr val="1A1A1A"/>
                </a:solidFill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5"/>
          <c:min val="0"/>
        </c:scaling>
        <c:delete val="0"/>
        <c:axPos val="b"/>
        <c:majorGridlines>
          <c:spPr>
            <a:ln w="9525">
              <a:solidFill>
                <a:srgbClr val="E3E6EE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E3E6EE"/>
            </a:solidFill>
          </a:ln>
        </c:spPr>
        <c:txPr>
          <a:bodyPr/>
          <a:lstStyle/>
          <a:p>
            <a:pPr>
              <a:defRPr sz="900">
                <a:solidFill>
                  <a:srgbClr val="5B5E6B"/>
                </a:solidFill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FLOPs(M)</c:v>
                </c:pt>
              </c:strCache>
            </c:strRef>
          </c:tx>
          <c:spPr>
            <a:solidFill>
              <a:srgbClr val="2A78D6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/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tiny_cnn_c</c:v>
                </c:pt>
                <c:pt idx="1">
                  <c:v>tiny_cnn_a</c:v>
                </c:pt>
                <c:pt idx="2">
                  <c:v>tiny_cnn_b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74.400000000000006</c:v>
                </c:pt>
                <c:pt idx="1">
                  <c:v>330.3</c:v>
                </c:pt>
                <c:pt idx="2">
                  <c:v>405.8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9940-4B33-AF8D-10287682D32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3E6EE"/>
            </a:solidFill>
          </a:ln>
        </c:spPr>
        <c:txPr>
          <a:bodyPr/>
          <a:lstStyle/>
          <a:p>
            <a:pPr>
              <a:defRPr sz="950">
                <a:solidFill>
                  <a:srgbClr val="1A1A1A"/>
                </a:solidFill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9525">
              <a:solidFill>
                <a:srgbClr val="E3E6EE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E3E6EE"/>
            </a:solidFill>
          </a:ln>
        </c:spPr>
        <c:txPr>
          <a:bodyPr/>
          <a:lstStyle/>
          <a:p>
            <a:pPr>
              <a:defRPr sz="900">
                <a:solidFill>
                  <a:srgbClr val="5B5E6B"/>
                </a:solidFill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tiny_cnn_a</c:v>
                </c:pt>
              </c:strCache>
            </c:strRef>
          </c:tx>
          <c:spPr>
            <a:solidFill>
              <a:srgbClr val="9EC5F4"/>
            </a:solidFill>
          </c:spPr>
          <c:invertIfNegative val="1"/>
          <c:cat>
            <c:strRef>
              <c:f>Sheet1!$A$2:$A$7</c:f>
              <c:strCache>
                <c:ptCount val="6"/>
                <c:pt idx="0">
                  <c:v>reflection</c:v>
                </c:pt>
                <c:pt idx="1">
                  <c:v>occlusion</c:v>
                </c:pt>
                <c:pt idx="2">
                  <c:v>shadow</c:v>
                </c:pt>
                <c:pt idx="3">
                  <c:v>noise</c:v>
                </c:pt>
                <c:pt idx="4">
                  <c:v>blur</c:v>
                </c:pt>
                <c:pt idx="5">
                  <c:v>brightness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8.09</c:v>
                </c:pt>
                <c:pt idx="1">
                  <c:v>18.16</c:v>
                </c:pt>
                <c:pt idx="2">
                  <c:v>18.170000000000002</c:v>
                </c:pt>
                <c:pt idx="3">
                  <c:v>37.94</c:v>
                </c:pt>
                <c:pt idx="4">
                  <c:v>52.43</c:v>
                </c:pt>
                <c:pt idx="5">
                  <c:v>62.73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201-428C-9E90-7C9147FA93C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tiny_cnn_b</c:v>
                </c:pt>
              </c:strCache>
            </c:strRef>
          </c:tx>
          <c:spPr>
            <a:solidFill>
              <a:srgbClr val="2A78D6"/>
            </a:solidFill>
          </c:spPr>
          <c:invertIfNegative val="1"/>
          <c:cat>
            <c:strRef>
              <c:f>Sheet1!$A$2:$A$7</c:f>
              <c:strCache>
                <c:ptCount val="6"/>
                <c:pt idx="0">
                  <c:v>reflection</c:v>
                </c:pt>
                <c:pt idx="1">
                  <c:v>occlusion</c:v>
                </c:pt>
                <c:pt idx="2">
                  <c:v>shadow</c:v>
                </c:pt>
                <c:pt idx="3">
                  <c:v>noise</c:v>
                </c:pt>
                <c:pt idx="4">
                  <c:v>blur</c:v>
                </c:pt>
                <c:pt idx="5">
                  <c:v>brightness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6.66</c:v>
                </c:pt>
                <c:pt idx="1">
                  <c:v>10.87</c:v>
                </c:pt>
                <c:pt idx="2">
                  <c:v>7.81</c:v>
                </c:pt>
                <c:pt idx="3">
                  <c:v>29.56</c:v>
                </c:pt>
                <c:pt idx="4">
                  <c:v>45.63</c:v>
                </c:pt>
                <c:pt idx="5">
                  <c:v>54.96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E201-428C-9E90-7C9147FA93C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tiny_cnn_c</c:v>
                </c:pt>
              </c:strCache>
            </c:strRef>
          </c:tx>
          <c:spPr>
            <a:solidFill>
              <a:srgbClr val="EB6834"/>
            </a:solidFill>
          </c:spPr>
          <c:invertIfNegative val="1"/>
          <c:cat>
            <c:strRef>
              <c:f>Sheet1!$A$2:$A$7</c:f>
              <c:strCache>
                <c:ptCount val="6"/>
                <c:pt idx="0">
                  <c:v>reflection</c:v>
                </c:pt>
                <c:pt idx="1">
                  <c:v>occlusion</c:v>
                </c:pt>
                <c:pt idx="2">
                  <c:v>shadow</c:v>
                </c:pt>
                <c:pt idx="3">
                  <c:v>noise</c:v>
                </c:pt>
                <c:pt idx="4">
                  <c:v>blur</c:v>
                </c:pt>
                <c:pt idx="5">
                  <c:v>brightness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6.9</c:v>
                </c:pt>
                <c:pt idx="1">
                  <c:v>10.98</c:v>
                </c:pt>
                <c:pt idx="2">
                  <c:v>17.89</c:v>
                </c:pt>
                <c:pt idx="3">
                  <c:v>35.47</c:v>
                </c:pt>
                <c:pt idx="4">
                  <c:v>47.31</c:v>
                </c:pt>
                <c:pt idx="5">
                  <c:v>63.56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E201-428C-9E90-7C9147FA93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3E6EE"/>
            </a:solidFill>
          </a:ln>
        </c:spPr>
        <c:txPr>
          <a:bodyPr/>
          <a:lstStyle/>
          <a:p>
            <a:pPr>
              <a:defRPr sz="950">
                <a:solidFill>
                  <a:srgbClr val="1A1A1A"/>
                </a:solidFill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9525">
              <a:solidFill>
                <a:srgbClr val="E3E6EE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E3E6EE"/>
            </a:solidFill>
          </a:ln>
        </c:spPr>
        <c:txPr>
          <a:bodyPr/>
          <a:lstStyle/>
          <a:p>
            <a:pPr>
              <a:defRPr sz="900">
                <a:solidFill>
                  <a:srgbClr val="5B5E6B"/>
                </a:solidFill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5B5E6B"/>
              </a:solidFill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내부</c:v>
                </c:pt>
              </c:strCache>
            </c:strRef>
          </c:tx>
          <c:spPr>
            <a:solidFill>
              <a:srgbClr val="1E2761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tiny_cnn_a</c:v>
                </c:pt>
                <c:pt idx="1">
                  <c:v>tiny_cnn_b</c:v>
                </c:pt>
                <c:pt idx="2">
                  <c:v>tiny_cnn_c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96.59</c:v>
                </c:pt>
                <c:pt idx="1">
                  <c:v>98.42</c:v>
                </c:pt>
                <c:pt idx="2">
                  <c:v>96.26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8B6-4790-805F-11A32E27B0A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Taiwan(3cls)</c:v>
                </c:pt>
              </c:strCache>
            </c:strRef>
          </c:tx>
          <c:spPr>
            <a:solidFill>
              <a:srgbClr val="2A78D6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tiny_cnn_a</c:v>
                </c:pt>
                <c:pt idx="1">
                  <c:v>tiny_cnn_b</c:v>
                </c:pt>
                <c:pt idx="2">
                  <c:v>tiny_cnn_c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26.75</c:v>
                </c:pt>
                <c:pt idx="1">
                  <c:v>29.3</c:v>
                </c:pt>
                <c:pt idx="2">
                  <c:v>25.16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18B6-4790-805F-11A32E27B0A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Bangladesh(6cls)</c:v>
                </c:pt>
              </c:strCache>
            </c:strRef>
          </c:tx>
          <c:spPr>
            <a:solidFill>
              <a:srgbClr val="EB6834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tiny_cnn_a</c:v>
                </c:pt>
                <c:pt idx="1">
                  <c:v>tiny_cnn_b</c:v>
                </c:pt>
                <c:pt idx="2">
                  <c:v>tiny_cnn_c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17.62</c:v>
                </c:pt>
                <c:pt idx="1">
                  <c:v>18.260000000000002</c:v>
                </c:pt>
                <c:pt idx="2">
                  <c:v>15.44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18B6-4790-805F-11A32E27B0A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PlantDoc(8cls)</c:v>
                </c:pt>
              </c:strCache>
            </c:strRef>
          </c:tx>
          <c:spPr>
            <a:solidFill>
              <a:srgbClr val="1BAF7A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tiny_cnn_a</c:v>
                </c:pt>
                <c:pt idx="1">
                  <c:v>tiny_cnn_b</c:v>
                </c:pt>
                <c:pt idx="2">
                  <c:v>tiny_cnn_c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23.7</c:v>
                </c:pt>
                <c:pt idx="1">
                  <c:v>23.55</c:v>
                </c:pt>
                <c:pt idx="2">
                  <c:v>20.03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18B6-4790-805F-11A32E27B0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3E6EE"/>
            </a:solidFill>
          </a:ln>
        </c:spPr>
        <c:txPr>
          <a:bodyPr/>
          <a:lstStyle/>
          <a:p>
            <a:pPr>
              <a:defRPr sz="950">
                <a:solidFill>
                  <a:srgbClr val="1A1A1A"/>
                </a:solidFill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5"/>
          <c:min val="0"/>
        </c:scaling>
        <c:delete val="0"/>
        <c:axPos val="l"/>
        <c:majorGridlines>
          <c:spPr>
            <a:ln w="9525">
              <a:solidFill>
                <a:srgbClr val="E3E6EE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E3E6EE"/>
            </a:solidFill>
          </a:ln>
        </c:spPr>
        <c:txPr>
          <a:bodyPr/>
          <a:lstStyle/>
          <a:p>
            <a:pPr>
              <a:defRPr sz="900">
                <a:solidFill>
                  <a:srgbClr val="5B5E6B"/>
                </a:solidFill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5B5E6B"/>
              </a:solidFill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961120" y="-2286000"/>
            <a:ext cx="6400800" cy="6400800"/>
          </a:xfrm>
          <a:prstGeom prst="ellipse">
            <a:avLst/>
          </a:prstGeom>
          <a:solidFill>
            <a:srgbClr val="141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515600" y="3840480"/>
            <a:ext cx="3657600" cy="3657600"/>
          </a:xfrm>
          <a:prstGeom prst="ellipse">
            <a:avLst/>
          </a:prstGeom>
          <a:solidFill>
            <a:srgbClr val="141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200">
                <a:solidFill>
                  <a:srgbClr val="CADCFC"/>
                </a:solidFill>
                <a:latin typeface="Calibri"/>
              </a:rPr>
              <a:t>CAPSTONE DESIGN · PROGRESS REPORT (상세판)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987552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600" b="1" i="0">
                <a:solidFill>
                  <a:srgbClr val="FFFFFF"/>
                </a:solidFill>
                <a:latin typeface="Cambria"/>
              </a:rPr>
              <a:t>경량 CNN 기반 토마토 잎 병해 분류</a:t>
            </a:r>
          </a:p>
          <a:p>
            <a:pPr algn="l">
              <a:lnSpc>
                <a:spcPct val="112000"/>
              </a:lnSpc>
            </a:pPr>
            <a:r>
              <a:rPr sz="3600" b="1" i="0">
                <a:solidFill>
                  <a:srgbClr val="FFFFFF"/>
                </a:solidFill>
                <a:latin typeface="Cambria"/>
              </a:rPr>
              <a:t>및 강건성 평가 — V2 상세 진행 보고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CADCFC"/>
                </a:solidFill>
                <a:latin typeface="Calibri"/>
              </a:rPr>
              <a:t>데이터 파이프라인 · 모델 설계 근거 · 4개 축(내부/효율/강건성/일반화) 결과 해석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22960" y="4663440"/>
            <a:ext cx="2011680" cy="0"/>
          </a:xfrm>
          <a:prstGeom prst="line">
            <a:avLst/>
          </a:prstGeom>
          <a:ln w="38100">
            <a:solidFill>
              <a:srgbClr val="EB68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22960" y="48463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작성자  사라        정리일  2026.09.17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8E9BD4"/>
                </a:solidFill>
                <a:latin typeface="Calibri"/>
              </a:rPr>
              <a:t>모델은 더 작게 · 분류 문제는 더 어렵게 · 성능은 안정적으로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150">
                <a:solidFill>
                  <a:srgbClr val="2A78D6"/>
                </a:solidFill>
                <a:latin typeface="Calibri"/>
              </a:rPr>
              <a:t>PROJECT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Cambria"/>
              </a:rPr>
              <a:t>7단계 로드맵 — 지금 어디까지 왔나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83080"/>
            <a:ext cx="1444752" cy="1444752"/>
          </a:xfrm>
          <a:prstGeom prst="ellipse">
            <a:avLst/>
          </a:prstGeom>
          <a:solidFill>
            <a:srgbClr val="EEF3FC"/>
          </a:solidFill>
          <a:ln w="31750">
            <a:solidFill>
              <a:srgbClr val="0CA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144475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>
                <a:solidFill>
                  <a:srgbClr val="1E2761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3364992"/>
            <a:ext cx="17739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설계+학습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3822192"/>
            <a:ext cx="17739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0CA30C"/>
                </a:solidFill>
                <a:latin typeface="Calibri"/>
              </a:rPr>
              <a:t>완료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93392" y="2505456"/>
            <a:ext cx="164592" cy="0"/>
          </a:xfrm>
          <a:prstGeom prst="line">
            <a:avLst/>
          </a:prstGeom>
          <a:ln w="19050">
            <a:solidFill>
              <a:srgbClr val="C7CCD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157984" y="1783080"/>
            <a:ext cx="1444752" cy="1444752"/>
          </a:xfrm>
          <a:prstGeom prst="ellipse">
            <a:avLst/>
          </a:prstGeom>
          <a:solidFill>
            <a:srgbClr val="EEF3FC"/>
          </a:solidFill>
          <a:ln w="31750">
            <a:solidFill>
              <a:srgbClr val="0CA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57984" y="2057400"/>
            <a:ext cx="144475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>
                <a:solidFill>
                  <a:srgbClr val="1E2761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93391" y="3364992"/>
            <a:ext cx="17739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내부평가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93391" y="3822192"/>
            <a:ext cx="17739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0CA30C"/>
                </a:solidFill>
                <a:latin typeface="Calibri"/>
              </a:rPr>
              <a:t>완료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602736" y="2505456"/>
            <a:ext cx="164592" cy="0"/>
          </a:xfrm>
          <a:prstGeom prst="line">
            <a:avLst/>
          </a:prstGeom>
          <a:ln w="19050">
            <a:solidFill>
              <a:srgbClr val="C7CCD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767328" y="1783080"/>
            <a:ext cx="1444752" cy="1444752"/>
          </a:xfrm>
          <a:prstGeom prst="ellipse">
            <a:avLst/>
          </a:prstGeom>
          <a:solidFill>
            <a:srgbClr val="EEF3FC"/>
          </a:solidFill>
          <a:ln w="31750">
            <a:solidFill>
              <a:srgbClr val="0CA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67328" y="2057400"/>
            <a:ext cx="144475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>
                <a:solidFill>
                  <a:srgbClr val="1E2761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2736" y="3364992"/>
            <a:ext cx="17739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효율성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2736" y="3822192"/>
            <a:ext cx="17739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0CA30C"/>
                </a:solidFill>
                <a:latin typeface="Calibri"/>
              </a:rPr>
              <a:t>완료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212080" y="2505456"/>
            <a:ext cx="164592" cy="0"/>
          </a:xfrm>
          <a:prstGeom prst="line">
            <a:avLst/>
          </a:prstGeom>
          <a:ln w="19050">
            <a:solidFill>
              <a:srgbClr val="C7CCD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376672" y="1783080"/>
            <a:ext cx="1444752" cy="1444752"/>
          </a:xfrm>
          <a:prstGeom prst="ellipse">
            <a:avLst/>
          </a:prstGeom>
          <a:solidFill>
            <a:srgbClr val="EEF3FC"/>
          </a:solidFill>
          <a:ln w="31750">
            <a:solidFill>
              <a:srgbClr val="0CA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76672" y="2057400"/>
            <a:ext cx="144475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>
                <a:solidFill>
                  <a:srgbClr val="1E2761"/>
                </a:solidFill>
                <a:latin typeface="Cambria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364992"/>
            <a:ext cx="17739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Corruption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3822192"/>
            <a:ext cx="17739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0CA30C"/>
                </a:solidFill>
                <a:latin typeface="Calibri"/>
              </a:rPr>
              <a:t>완료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21424" y="2505456"/>
            <a:ext cx="164592" cy="0"/>
          </a:xfrm>
          <a:prstGeom prst="line">
            <a:avLst/>
          </a:prstGeom>
          <a:ln w="19050">
            <a:solidFill>
              <a:srgbClr val="C7CCD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6986016" y="1783080"/>
            <a:ext cx="1444752" cy="1444752"/>
          </a:xfrm>
          <a:prstGeom prst="ellipse">
            <a:avLst/>
          </a:prstGeom>
          <a:solidFill>
            <a:srgbClr val="EEF3FC"/>
          </a:solidFill>
          <a:ln w="31750">
            <a:solidFill>
              <a:srgbClr val="0CA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86016" y="2057400"/>
            <a:ext cx="144475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>
                <a:solidFill>
                  <a:srgbClr val="1E2761"/>
                </a:solidFill>
                <a:latin typeface="Cambria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21424" y="3364992"/>
            <a:ext cx="17739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외부평가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21424" y="3822192"/>
            <a:ext cx="17739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0CA30C"/>
                </a:solidFill>
                <a:latin typeface="Calibri"/>
              </a:rPr>
              <a:t>완료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430767" y="2505456"/>
            <a:ext cx="164592" cy="0"/>
          </a:xfrm>
          <a:prstGeom prst="line">
            <a:avLst/>
          </a:prstGeom>
          <a:ln w="19050">
            <a:solidFill>
              <a:srgbClr val="C7CCD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8595360" y="1783080"/>
            <a:ext cx="1444752" cy="1444752"/>
          </a:xfrm>
          <a:prstGeom prst="ellipse">
            <a:avLst/>
          </a:prstGeom>
          <a:solidFill>
            <a:srgbClr val="EEF3FC"/>
          </a:solidFill>
          <a:ln w="3175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95360" y="2057400"/>
            <a:ext cx="144475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>
                <a:solidFill>
                  <a:srgbClr val="1E2761"/>
                </a:solidFill>
                <a:latin typeface="Cambri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0768" y="3364992"/>
            <a:ext cx="17739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최종선정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30768" y="3822192"/>
            <a:ext cx="17739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EB6834"/>
                </a:solidFill>
                <a:latin typeface="Calibri"/>
              </a:rPr>
              <a:t>완료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040112" y="2505456"/>
            <a:ext cx="164592" cy="0"/>
          </a:xfrm>
          <a:prstGeom prst="line">
            <a:avLst/>
          </a:prstGeom>
          <a:ln w="19050">
            <a:solidFill>
              <a:srgbClr val="C7CCD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10204704" y="1783080"/>
            <a:ext cx="1444752" cy="1444752"/>
          </a:xfrm>
          <a:prstGeom prst="ellipse">
            <a:avLst/>
          </a:prstGeom>
          <a:solidFill>
            <a:srgbClr val="EEF3FC"/>
          </a:solidFill>
          <a:ln w="317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204704" y="2057400"/>
            <a:ext cx="144475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>
                <a:solidFill>
                  <a:srgbClr val="1E2761"/>
                </a:solidFill>
                <a:latin typeface="Cambria"/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40112" y="3364992"/>
            <a:ext cx="17739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웹시스템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40112" y="3822192"/>
            <a:ext cx="17739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2A78D6"/>
                </a:solidFill>
                <a:latin typeface="Calibri"/>
              </a:rPr>
              <a:t>프로토타입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3434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이 보고서에서 다루는 내용</a:t>
            </a:r>
          </a:p>
        </p:txBody>
      </p:sp>
      <p:sp>
        <p:nvSpPr>
          <p:cNvPr id="39" name="Oval 38"/>
          <p:cNvSpPr/>
          <p:nvPr/>
        </p:nvSpPr>
        <p:spPr>
          <a:xfrm>
            <a:off x="548640" y="4782312"/>
            <a:ext cx="128016" cy="128016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2960" y="47548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왜 PyTorch로 전환했는가</a:t>
            </a:r>
          </a:p>
        </p:txBody>
      </p:sp>
      <p:sp>
        <p:nvSpPr>
          <p:cNvPr id="41" name="Oval 40"/>
          <p:cNvSpPr/>
          <p:nvPr/>
        </p:nvSpPr>
        <p:spPr>
          <a:xfrm>
            <a:off x="548640" y="5148072"/>
            <a:ext cx="128016" cy="128016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2960" y="51206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4개 데이터셋을 각각 어떻게 준비했는가 (몇 장 · 어떤 클래스 · 왜 그 방식으로)</a:t>
            </a:r>
          </a:p>
        </p:txBody>
      </p:sp>
      <p:sp>
        <p:nvSpPr>
          <p:cNvPr id="43" name="Oval 42"/>
          <p:cNvSpPr/>
          <p:nvPr/>
        </p:nvSpPr>
        <p:spPr>
          <a:xfrm>
            <a:off x="548640" y="5513832"/>
            <a:ext cx="128016" cy="128016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22960" y="54864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Tiny CNN 3종을 어떻게, 왜 그렇게 설계했는가</a:t>
            </a:r>
          </a:p>
        </p:txBody>
      </p:sp>
      <p:sp>
        <p:nvSpPr>
          <p:cNvPr id="45" name="Oval 44"/>
          <p:cNvSpPr/>
          <p:nvPr/>
        </p:nvSpPr>
        <p:spPr>
          <a:xfrm>
            <a:off x="548640" y="5879592"/>
            <a:ext cx="128016" cy="128016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4개 평가 축(내부·효율·강건성·일반화) 결과 + 최종 모델 선정·DA 1차 실험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5E6B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150">
                <a:solidFill>
                  <a:srgbClr val="2A78D6"/>
                </a:solidFill>
                <a:latin typeface="Calibri"/>
              </a:rPr>
              <a:t>FRAMEWORK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Cambria"/>
              </a:rPr>
              <a:t>왜 TensorFlow에서 PyTorch로 전환했나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배경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3949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1단계(모델 설계)를 시작하며 Tiny CNN을 여러 버전으로 계속 바꿔가며 실험할 계획이었다. 이런 반복 실험에는 TensorFlow/Keras의 선언적 Sequential/Functional API보다, 즉시 실행되는(eager execution) PyTorch의 nn.Module 방식이 구조를 바꾸고 디버깅하기 더 쉽다.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554480"/>
            <a:ext cx="534924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664207"/>
            <a:ext cx="4892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구조 변경 속도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975104"/>
            <a:ext cx="4892040" cy="3017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B5E6B"/>
                </a:solidFill>
                <a:latin typeface="Calibri"/>
              </a:rPr>
              <a:t>nn.Module 상속 + forward()만 고치면 됨 — 매번 그래프를 다시 정의할 필요 없음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478024"/>
            <a:ext cx="534924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2587752"/>
            <a:ext cx="4892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디버깅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898648"/>
            <a:ext cx="4892040" cy="3017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B5E6B"/>
                </a:solidFill>
                <a:latin typeface="Calibri"/>
              </a:rPr>
              <a:t>중간 텐서를 파이썬 print/pdb로 바로 확인 — 그래프 컴파일 없이 즉시 실행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401568"/>
            <a:ext cx="534924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3511296"/>
            <a:ext cx="4892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사전학습 모델 접근성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822191"/>
            <a:ext cx="4892040" cy="3017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B5E6B"/>
                </a:solidFill>
                <a:latin typeface="Calibri"/>
              </a:rPr>
              <a:t>torchvision.models로 MobileNetV2/EfficientNetB0/DenseNet121을 바로 로드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4325112"/>
            <a:ext cx="534924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4434840"/>
            <a:ext cx="4892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CPU 친화성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745736"/>
            <a:ext cx="4892040" cy="3017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B5E6B"/>
                </a:solidFill>
                <a:latin typeface="Calibri"/>
              </a:rPr>
              <a:t>이 프로젝트는 처음부터 고성능 GPU를 전제하지 않음 — PyTorch CPU 빌드로 문제없이 충족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486400"/>
            <a:ext cx="11091672" cy="960120"/>
          </a:xfrm>
          <a:prstGeom prst="roundRect">
            <a:avLst>
              <a:gd name="adj" fmla="val 6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56692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이미 학습·평가에 쓴 6개 스크립트(train_model.py, evaluate_*.py 등)가 전부 PyTorch로 새로 구현됐고, 지금까지의 모든 실측 결과(내부/효율/corruption/외부)가 이 파이프라인에서 나온 것이다.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5E6B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150">
                <a:solidFill>
                  <a:srgbClr val="2A78D6"/>
                </a:solidFill>
                <a:latin typeface="Calibri"/>
              </a:rPr>
              <a:t>DATA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Cambria"/>
              </a:rPr>
              <a:t>데이터 파이프라인 전체 지도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11091672" cy="82296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B6834"/>
                </a:solidFill>
                <a:latin typeface="Calibri"/>
              </a:rPr>
              <a:t>원칙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data/raw/ 원본은 절대 수정하지 않는다. 모든 가공물은 data/processed · data/external · data/corrupted에 새로 생성한다.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43200"/>
            <a:ext cx="2606040" cy="155448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907792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PlantVillage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EB6834"/>
                </a:solidFill>
                <a:latin typeface="Cambria"/>
              </a:rPr>
              <a:t>18,160장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CADCFC"/>
                </a:solidFill>
                <a:latin typeface="Calibri"/>
              </a:rPr>
              <a:t>학습 + 내부평가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2" y="2743200"/>
            <a:ext cx="2606040" cy="1554480"/>
          </a:xfrm>
          <a:prstGeom prst="roundRect">
            <a:avLst>
              <a:gd name="adj" fmla="val 6000"/>
            </a:avLst>
          </a:prstGeom>
          <a:solidFill>
            <a:srgbClr val="2A78D6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93592" y="2907792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Taiwan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329184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314장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384048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CADCFC"/>
                </a:solidFill>
                <a:latin typeface="Calibri"/>
              </a:rPr>
              <a:t>외부평가 (3/10)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2783" y="2743200"/>
            <a:ext cx="2606040" cy="1554480"/>
          </a:xfrm>
          <a:prstGeom prst="roundRect">
            <a:avLst>
              <a:gd name="adj" fmla="val 6000"/>
            </a:avLst>
          </a:prstGeom>
          <a:solidFill>
            <a:srgbClr val="2A78D6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55664" y="2907792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Bangladesh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329184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1,101장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384048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CADCFC"/>
                </a:solidFill>
                <a:latin typeface="Calibri"/>
              </a:rPr>
              <a:t>외부평가 (6/10)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34856" y="2743200"/>
            <a:ext cx="2606040" cy="1554480"/>
          </a:xfrm>
          <a:prstGeom prst="roundRect">
            <a:avLst>
              <a:gd name="adj" fmla="val 6000"/>
            </a:avLst>
          </a:prstGeom>
          <a:solidFill>
            <a:srgbClr val="2A78D6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17736" y="2907792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PlantDoc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17736" y="329184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709장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17736" y="384048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CADCFC"/>
                </a:solidFill>
                <a:latin typeface="Calibri"/>
              </a:rPr>
              <a:t>외부평가 (8/10)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5262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5B5E6B"/>
                </a:solidFill>
                <a:latin typeface="Calibri"/>
              </a:rPr>
              <a:t>↓  PlantVillage test셋(2,727장)에만 적용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892040"/>
            <a:ext cx="11091672" cy="1005840"/>
          </a:xfrm>
          <a:prstGeom prst="roundRect">
            <a:avLst>
              <a:gd name="adj" fmla="val 6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502920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Corruption 변형셋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3492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6조건 × 3단계 = 49,086장 (4단계 강건성 평가 전용, 학습에는 절대 사용 안 함)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5E6B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150">
                <a:solidFill>
                  <a:srgbClr val="2A78D6"/>
                </a:solidFill>
                <a:latin typeface="Calibri"/>
              </a:rPr>
              <a:t>DATASET 1 · PLANTVILLAGE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Cambria"/>
              </a:rPr>
              <a:t>PlantVillage — 학습 데이터 클래스별 상세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694944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8229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클래스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전체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train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val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test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229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황화잎말림바이러스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5,357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3,749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804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804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29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세균성 점무늬병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2,127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1,489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319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319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229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역병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1,909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1,335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287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287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229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셉토리아 잎반점병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1,771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1,239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266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266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8229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점박이응애 피해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1,676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1,172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252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252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8229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정상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1,591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1,113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239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239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8229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타깃스팟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1,404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982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211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211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8229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잎곰팡이병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952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666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143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143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8229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겹무늬병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823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토마토 모자이크 바이러스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373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261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56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56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680960" y="1508760"/>
            <a:ext cx="3959352" cy="192024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09560" y="169164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EB6834"/>
                </a:solidFill>
                <a:latin typeface="Cambria"/>
              </a:rPr>
              <a:t>70 / 15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2286000"/>
            <a:ext cx="35661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ADCFC"/>
                </a:solidFill>
                <a:latin typeface="Calibri"/>
              </a:rPr>
              <a:t>그룹 단위 분할 (leakage 방지)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ADCFC"/>
                </a:solidFill>
                <a:latin typeface="Calibri"/>
              </a:rPr>
              <a:t>시드 고정(42) — 재현 가능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ADCFC"/>
                </a:solidFill>
                <a:latin typeface="Calibri"/>
              </a:rPr>
              <a:t>train 12,706 · val 2,727 · test 2,727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3566160"/>
            <a:ext cx="3959352" cy="2103120"/>
          </a:xfrm>
          <a:prstGeom prst="roundRect">
            <a:avLst>
              <a:gd name="adj" fmla="val 6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09560" y="3749039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불균형: 14.36배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4160520"/>
            <a:ext cx="356616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최다 황화잎말림바이러스(5,357) vs 최소 모자이크바이러스(373). class weight·오버샘플링으로 보정하지 않고 자연 분포 그대로 학습 — 실제 재배 환경의 병해 발생 빈도를 반영한다는 판단.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5E6B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150">
                <a:solidFill>
                  <a:srgbClr val="2A78D6"/>
                </a:solidFill>
                <a:latin typeface="Calibri"/>
              </a:rPr>
              <a:t>DATASET 2 · TAIWAN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Cambria"/>
              </a:rPr>
              <a:t>Taiwan 데이터 처리 — 어떻게, 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원본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Train/Test 폴더에 6개 클래스: Bacterial spot · Black mold · Gray spot · health · Late blight · powdery mildew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처리 방침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5394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① Train+Test를 병합한다 — Taiwan으로 학습하지 않으므로 원 제작자의 분할은 의미가 없고, 합쳐야 평가 샘플이 최대화된다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38728"/>
            <a:ext cx="5394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② PlantVillage 10개 클래스와 이름이 대응되는 3개만 남긴다 (Bacterial spot / Late blight / healthy)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05656"/>
            <a:ext cx="5394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③ Black mold·Gray spot·powdery mildew는 대응 클래스가 없어 제외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63640" y="1508760"/>
          <a:ext cx="539496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클래스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매핑 원본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장수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세균성 점무늬병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Bacterial spot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역병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Late blight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98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정상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health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106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263640" y="3520440"/>
            <a:ext cx="5394960" cy="2606040"/>
          </a:xfrm>
          <a:prstGeom prst="roundRect">
            <a:avLst>
              <a:gd name="adj" fmla="val 6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370332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314장 / 3개 클래스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114800"/>
            <a:ext cx="4937760" cy="1874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PlantVillage 10개 중 3개만 겹쳐서 커버리지가 제일 낮다. 그럼에도 외부 평가에 포함한 이유는 이후 PlantDoc(8개 클래스)과 직접 비교해서 "클래스 커버리지가 결과에 영향을 주는지"를 검증하기 위함이다.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5E6B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150">
                <a:solidFill>
                  <a:srgbClr val="2A78D6"/>
                </a:solidFill>
                <a:latin typeface="Calibri"/>
              </a:rPr>
              <a:t>DATASET 3 · BANGLADESH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Cambria"/>
              </a:rPr>
              <a:t>Bangladesh bbox — 왜 크롭이 필요했나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원본이 YOLO 객체탐지 데이터셋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109728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Bangladesh 데이터셋은 우리처럼 "잎 전체 사진 한 장 = 한 클래스"가 아니라, 농장에서 찍은 넓은 사진 위에 병반 위치를 bbox(좌표)로 표시해 둔 YOLO 라벨 형식이다. 그래서 이미지 자체가 아니라 라벨의 bbox 좌표로 병반 영역만 잘라내야(crop) 우리 분류기가 쓸 수 있는 "잎(병반) 사진"이 만들어진다.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라벨 클래스 매핑 (YOLO class id → PlantVillage)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3429000"/>
          <a:ext cx="11430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</a:rPr>
                        <a:t>원본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</a:rPr>
                        <a:t>Early Blight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</a:rPr>
                        <a:t>Black Spot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</a:rPr>
                        <a:t>Late Blight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</a:rPr>
                        <a:t>Leaf Mold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</a:rPr>
                        <a:t>Bacterial Spot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</a:rPr>
                        <a:t>Target Spot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</a:rPr>
                        <a:t>Healthy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</a:rPr>
                        <a:t>매핑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</a:rPr>
                        <a:t>겹무늬병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</a:rPr>
                        <a:t>제외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</a:rPr>
                        <a:t>역병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</a:rPr>
                        <a:t>잎곰팡이병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</a:rPr>
                        <a:t>세균성점무늬병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</a:rPr>
                        <a:t>타깃스팟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</a:rPr>
                        <a:t>정상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029200"/>
            <a:ext cx="11091672" cy="1280160"/>
          </a:xfrm>
          <a:prstGeom prst="roundRect">
            <a:avLst>
              <a:gd name="adj" fmla="val 6000"/>
            </a:avLst>
          </a:prstGeom>
          <a:solidFill>
            <a:srgbClr val="FBEEEA"/>
          </a:solidFill>
          <a:ln w="12700">
            <a:solidFill>
              <a:srgbClr val="F0C4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51663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8A3A24"/>
                </a:solidFill>
                <a:latin typeface="Calibri"/>
              </a:rPr>
              <a:t>발견한 문제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46811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8A3A24"/>
                </a:solidFill>
                <a:latin typeface="Calibri"/>
              </a:rPr>
              <a:t>bbox가 "잎 전체"가 아니라 "병반 하나"만 표시한다 — 그대로 자르면 1,101장 중 843장(77%)이 128×128보다 작았고, 가장 작은 건 4×3px였다. 이대로 리사이즈하면 손톱만한 점 하나가 억지로 확대되어 뭉개진 이미지가 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5E6B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150">
                <a:solidFill>
                  <a:srgbClr val="2A78D6"/>
                </a:solidFill>
                <a:latin typeface="Calibri"/>
              </a:rPr>
              <a:t>DATASET 3 · BANGLADESH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Cambria"/>
              </a:rPr>
              <a:t>Bangladesh bbox — 해결: 여백 + 최소 크기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40% 여백 + 최소 96px 보장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6692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① 원래 bbox 크기에 40% 여백을 둘러서 잎 맥락을 포함시킨다.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② 그래도 96px보다 작으면, 중심을 유지한 채 그 크기까지 강제로 확장한다.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③ 확장한 영역이 이미지 경계를 넘으면 크기는 유지하고 창을 안쪽으로 밀어서 자른다.</a:t>
            </a:r>
          </a:p>
        </p:txBody>
      </p:sp>
      <p:pic>
        <p:nvPicPr>
          <p:cNvPr id="6" name="Picture 5" descr="bbox_comparis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1086" y="3246120"/>
            <a:ext cx="6586779" cy="2331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66928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1">
                <a:solidFill>
                  <a:srgbClr val="5B5E6B"/>
                </a:solidFill>
                <a:latin typeface="Calibri"/>
              </a:rPr>
              <a:t>실제 샘플: 원본 bbox 11×7px → 그대로 키우면 색 얼룩만 보임 vs 40%여백+최소96px 적용 시 병반 형태가 보임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6080760"/>
            <a:ext cx="11091672" cy="502920"/>
          </a:xfrm>
          <a:prstGeom prst="roundRect">
            <a:avLst>
              <a:gd name="adj" fmla="val 6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614476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  <a:latin typeface="Calibri"/>
              </a:rPr>
              <a:t>결과: 1,177개 bbox 제외(주로 Black Spot) 후 최종 1,101장, 전부 96×96px 이상 확보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5E6B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150">
                <a:solidFill>
                  <a:srgbClr val="2A78D6"/>
                </a:solidFill>
                <a:latin typeface="Calibri"/>
              </a:rPr>
              <a:t>DATASET 4 · PLANTDOC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Cambria"/>
              </a:rPr>
              <a:t>PlantDoc을 추가한 이유 — 클래스 커버리지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기존 외부셋의 한계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Taiwan은 10개 중 3개, Bangladesh는 6개 클래스만 겹쳐서, 외부 정확도가 낮은 이유가 "클래스가 안 맞아서"인지 "진짜 환경이 달라서"인지 구분하기 어려웠다. 그래서 클래스가 훨씬 많이 겹치는 데이터셋을 추가로 찾았다.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834640"/>
          <a:ext cx="11091672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59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데이터셋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겹치는 클래스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이미지 수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촬영 방식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</a:rPr>
                        <a:t>Taiwan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</a:rPr>
                        <a:t>3 /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</a:rPr>
                        <a:t>314장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</a:rPr>
                        <a:t>실제 농장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</a:rPr>
                        <a:t>Bangladesh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</a:rPr>
                        <a:t>6 / 10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</a:rPr>
                        <a:t>1,101장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</a:rPr>
                        <a:t>실제 농장 (bbox)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</a:rPr>
                        <a:t>PlantDoc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</a:rPr>
                        <a:t>8 /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</a:rPr>
                        <a:t>709장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</a:rPr>
                        <a:t>Google/Bing 이미지 검색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4754880"/>
            <a:ext cx="11091672" cy="146304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49377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PlantDoc (Singh et al., 2019)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57800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CADCFC"/>
                </a:solidFill>
                <a:latin typeface="Calibri"/>
              </a:rPr>
              <a:t>PlantVillage와 독립적으로 수집된 실사 데이터라 우리 학습 데이터와 겹칠 위험이 낮고, 13개 작물 중 토마토 9개 폴더가 PlantVillage 10개 클래스 중 8개와 대응된다 (Target_Spot만 대응 없음). CC-BY-4.0 라이선스, GitHub 공개.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5E6B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150">
                <a:solidFill>
                  <a:srgbClr val="2A78D6"/>
                </a:solidFill>
                <a:latin typeface="Calibri"/>
              </a:rPr>
              <a:t>DATASET 4 · PLANTDOC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Cambria"/>
              </a:rPr>
              <a:t>PlantDoc — 다운로드 이슈와 품질 검수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다운로드 과정에서 겪은 문제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0" i="0">
                <a:solidFill>
                  <a:srgbClr val="1A1A1A"/>
                </a:solidFill>
                <a:latin typeface="Calibri"/>
              </a:rPr>
              <a:t>① git clone → 파일명에 '?' 등 Windows 금지 문자가 있어 checkout 실패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0" i="0">
                <a:solidFill>
                  <a:srgbClr val="1A1A1A"/>
                </a:solidFill>
                <a:latin typeface="Calibri"/>
              </a:rPr>
              <a:t>② GitHub API로 파일 단위 다운로드 → 특수문자 인코딩으로 다수 404, API rate limit(60회/시간)까지 소진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0" i="0">
                <a:solidFill>
                  <a:srgbClr val="1A1A1A"/>
                </a:solidFill>
                <a:latin typeface="Calibri"/>
              </a:rPr>
              <a:t>③ 최종: 저장소 전체를 zip으로 받아(984MB) 파일명을 정리하며 추출 → 746장 확보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품질 검수 (콘택트시트 수작업)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86200"/>
            <a:ext cx="5394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80" b="0" i="0">
                <a:solidFill>
                  <a:srgbClr val="1A1A1A"/>
                </a:solidFill>
                <a:latin typeface="Calibri"/>
              </a:rPr>
              <a:t>Google 이미지 검색 기반이라 진단표·여러 질병을 합친 비교 콜라주·삽화·문서 캡처처럼 "잎 사진이 아닌" 이미지가 섞여 있었다. 8개 클래스 전체를 썸네일 격자(콘택트시트)로 만들어 훑어보고 문제 이미지 35장을 확인해 제외했다.</a:t>
            </a:r>
          </a:p>
        </p:txBody>
      </p:sp>
      <p:pic>
        <p:nvPicPr>
          <p:cNvPr id="10" name="Picture 9" descr="plantdoc_quality_examp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00200"/>
            <a:ext cx="5394960" cy="28601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63640" y="4526280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5B5E6B"/>
                </a:solidFill>
                <a:latin typeface="Calibri"/>
              </a:rPr>
              <a:t>실제 제외 사례: 4개 질병을 합친 비교 콜라주가 스파이더마이트 폴더에 라벨링됨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257800"/>
            <a:ext cx="11091672" cy="1188720"/>
          </a:xfrm>
          <a:prstGeom prst="roundRect">
            <a:avLst>
              <a:gd name="adj" fmla="val 6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53949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746장 → 709장 (35장 제외) / 8개 클래스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742432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Spider mites 폴더는 원본에 단 2장뿐이라(콜라주 제외하면 사실상 무의미) 평가에서 제외했다. 원본은 그대로 두고, 외부평가셋 생성 시에만 35장을 걸러냈다.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5E6B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150">
                <a:solidFill>
                  <a:srgbClr val="2A78D6"/>
                </a:solidFill>
                <a:latin typeface="Calibri"/>
              </a:rPr>
              <a:t>4단계 준비 · CORRUPTION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Cambria"/>
              </a:rPr>
              <a:t>Corruption 변형 데이터 — 어떻게 만들었나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9167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PlantVillage test셋(2,727장, 학습에 안 쓴 held-out) 각각에 6조건×3단계=18가지 변형을 적용해 49,086장을 생성했다. 새로 촬영한 게 아니라 기존 이미지에 코드로 변형을 가한 것이다.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103120"/>
          <a:ext cx="54864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882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조건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방법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약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중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강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밝기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픽셀값 곱셈(어둡게)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×0.7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×0.5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×0.3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그림자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반투명 검은 타원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면적20%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면적35%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면적50%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반사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반투명 흰 타원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면적10%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면적18%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면적28%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블러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Gaussian Blur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r=2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r=4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r=7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노이즈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Gaussian noise 추가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std=10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std=25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std=45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8828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가림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회색 사각형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면적15%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면적25%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면적40%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6" name="Picture 5" descr="corruption_mont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103120"/>
            <a:ext cx="5440680" cy="8630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4023360"/>
            <a:ext cx="5440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5B5E6B"/>
                </a:solidFill>
                <a:latin typeface="Calibri"/>
              </a:rPr>
              <a:t>강도 3단계(level3) 예시 — 원본 대비 시각적 변화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480560"/>
            <a:ext cx="5440680" cy="1600200"/>
          </a:xfrm>
          <a:prstGeom prst="roundRect">
            <a:avLst>
              <a:gd name="adj" fmla="val 6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461772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재현성 + 학습과의 분리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4937760"/>
            <a:ext cx="50292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그림자·반사·가림 위치는 파일명 기반 시드로 이미지마다 다르지만 재실행해도 동일하게 재현된다. data/corrupted/는 학습 경로(data/.../train/)와 물리적으로 분리돼 있어 학습 데이터 증강으로 절대 쓰이지 않는다.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5E6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150">
                <a:solidFill>
                  <a:srgbClr val="2A78D6"/>
                </a:solidFill>
                <a:latin typeface="Calibri"/>
              </a:rPr>
              <a:t>DATA QA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Cambria"/>
              </a:rPr>
              <a:t>데이터 품질 검증 — 무결성 · 중복 · 불균형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1091672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91639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무결성 검사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EB6834"/>
                </a:solidFill>
                <a:latin typeface="Cambria"/>
              </a:rPr>
              <a:t>20,284장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719072"/>
            <a:ext cx="740664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30" b="0" i="0">
                <a:solidFill>
                  <a:srgbClr val="1A1A1A"/>
                </a:solidFill>
                <a:latin typeface="Calibri"/>
              </a:rPr>
              <a:t>PIL Image.verify()+load()로 전수 검사. 콘텐츠 문제 0건 (PlantDoc의 RGBA PNG 1건은 로더가 항상 RGB로 변환하므로 무해).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127248"/>
            <a:ext cx="11091672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26440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train/test leakage (수정 완료)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30168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EB6834"/>
                </a:solidFill>
                <a:latin typeface="Cambria"/>
              </a:rPr>
              <a:t>0건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291840"/>
            <a:ext cx="740664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30" b="0" i="0">
                <a:solidFill>
                  <a:srgbClr val="1A1A1A"/>
                </a:solidFill>
                <a:latin typeface="Calibri"/>
              </a:rPr>
              <a:t>perceptual hash(dHash, 64bit)로 측정한 결과 완전 동일(distance=0) 이미지가 test-train 3장·val-train 4장 발견됐다. 같은 사진이 train/test에 나뉘면 정확도가 부풀려질 위험이 있어, dHash가 같은 이미지를 그룹으로 묶어 하나의 split에만 배정하는 그룹 단위 분할로 개선하고 재학습했다. 재검증 결과 완전 동일 0건 — 근접중복(distance≤5, 0.77~0.88%)은 이번 수정 범위 밖이라 비슷한 수준으로 남아있다.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00016"/>
            <a:ext cx="11091672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4837176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클래스 불균형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202936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EB6834"/>
                </a:solidFill>
                <a:latin typeface="Cambria"/>
              </a:rPr>
              <a:t>14.36배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4864607"/>
            <a:ext cx="740664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30" b="0" i="0">
                <a:solidFill>
                  <a:srgbClr val="1A1A1A"/>
                </a:solidFill>
                <a:latin typeface="Calibri"/>
              </a:rPr>
              <a:t>보정(class weight, 오버샘플링) 없이 자연 분포 그대로 학습에 사용 — 실험 설계상의 의도적 선택.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5E6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150">
                <a:solidFill>
                  <a:srgbClr val="2A78D6"/>
                </a:solidFill>
                <a:latin typeface="Calibri"/>
              </a:rPr>
              <a:t>MODEL DESIGN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Cambria"/>
              </a:rPr>
              <a:t>경량 모델 설계 원칙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1091672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64207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입력 해상도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21031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A78D6"/>
                </a:solidFill>
                <a:latin typeface="Calibri"/>
              </a:rPr>
              <a:t>224×224 → 128×128로 축소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63240" y="1691639"/>
            <a:ext cx="0" cy="0"/>
          </a:xfrm>
          <a:prstGeom prst="line">
            <a:avLst/>
          </a:prstGeom>
          <a:ln w="12700">
            <a:solidFill>
              <a:srgbClr val="E3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246120" y="1673352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1A1A1A"/>
                </a:solidFill>
                <a:latin typeface="Calibri"/>
              </a:rPr>
              <a:t>연산량·메모리를 줄이되, 병반 형태를 구분할 수 있는 최소 해상도는 유지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42032"/>
            <a:ext cx="11091672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65176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필터·층 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99232"/>
            <a:ext cx="21031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A78D6"/>
                </a:solidFill>
                <a:latin typeface="Calibri"/>
              </a:rPr>
              <a:t>3~4개 conv 블록만 사용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63240" y="2679192"/>
            <a:ext cx="0" cy="0"/>
          </a:xfrm>
          <a:prstGeom prst="line">
            <a:avLst/>
          </a:prstGeom>
          <a:ln w="12700">
            <a:solidFill>
              <a:srgbClr val="E3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246120" y="2660904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1A1A1A"/>
                </a:solidFill>
                <a:latin typeface="Calibri"/>
              </a:rPr>
              <a:t>채널도 32→64→128 수준으로 제한해 파라미터 수 자체를 억제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529584"/>
            <a:ext cx="11091672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639312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합성곱 종류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986784"/>
            <a:ext cx="21031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A78D6"/>
                </a:solidFill>
                <a:latin typeface="Calibri"/>
              </a:rPr>
              <a:t>Depthwise Separable Conv 검토 (C 모델)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063240" y="3666744"/>
            <a:ext cx="0" cy="0"/>
          </a:xfrm>
          <a:prstGeom prst="line">
            <a:avLst/>
          </a:prstGeom>
          <a:ln w="12700">
            <a:solidFill>
              <a:srgbClr val="E3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246120" y="3648456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1A1A1A"/>
                </a:solidFill>
                <a:latin typeface="Calibri"/>
              </a:rPr>
              <a:t>일반 conv 대비 FLOPs를 크게 줄이는 효과를 B와 직접 비교해 검증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517136"/>
            <a:ext cx="11091672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4626864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분류부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974336"/>
            <a:ext cx="21031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cxnSp>
        <p:nvCxnSpPr>
          <p:cNvPr id="22" name="Connector 21"/>
          <p:cNvCxnSpPr/>
          <p:nvPr/>
        </p:nvCxnSpPr>
        <p:spPr>
          <a:xfrm>
            <a:off x="3063240" y="4654296"/>
            <a:ext cx="0" cy="0"/>
          </a:xfrm>
          <a:prstGeom prst="line">
            <a:avLst/>
          </a:prstGeom>
          <a:ln w="12700">
            <a:solidFill>
              <a:srgbClr val="E3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246120" y="4636008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1A1A1A"/>
                </a:solidFill>
                <a:latin typeface="Calibri"/>
              </a:rPr>
              <a:t>공간 정보를 평균으로 압축해 완전연결층의 거대한 파라미터를 제거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504688"/>
            <a:ext cx="11091672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5614416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규제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961888"/>
            <a:ext cx="21031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A78D6"/>
                </a:solidFill>
                <a:latin typeface="Calibri"/>
              </a:rPr>
              <a:t>Dropout 0.3~0.4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063240" y="5641848"/>
            <a:ext cx="0" cy="0"/>
          </a:xfrm>
          <a:prstGeom prst="line">
            <a:avLst/>
          </a:prstGeom>
          <a:ln w="12700">
            <a:solidFill>
              <a:srgbClr val="E3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246120" y="562356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1A1A1A"/>
                </a:solidFill>
                <a:latin typeface="Calibri"/>
              </a:rPr>
              <a:t>스크래치 학습이라 과적합 위험이 커서, 모델이 클수록 더 강하게 적용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5E6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150">
                <a:solidFill>
                  <a:srgbClr val="2A78D6"/>
                </a:solidFill>
                <a:latin typeface="Calibri"/>
              </a:rPr>
              <a:t>MODEL DESIGN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Cambria"/>
              </a:rPr>
              <a:t>Tiny CNN A / B / C — 아키텍처 상세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11091672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8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8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181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 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Tiny CNN-A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Tiny CNN-B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Tiny CNN-C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블록 구성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3블록 (32→64→128)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4블록 (32→64→128→128)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4블록 (32→64→128→128)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합성곱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일반 Conv3x3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일반 Conv3x3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stem 1개 일반 + 3개 Depthwise Sep.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각 블록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Conv→BN→ReLU→MaxPool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Conv→BN→ReLU→MaxPool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Depthwise→Pointwise→BN→ReLU→MaxPool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분류부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GAP→Dropout(0.3)→FC(10)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GAP→Dropout(0.4)→FC(10)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GAP→Dropout(0.4)→FC(10)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초기화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He normal (전 모델 공통)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9858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파라미터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94,762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242,474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31,498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5074920"/>
            <a:ext cx="11091672" cy="132588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521208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B6834"/>
                </a:solidFill>
                <a:latin typeface="Calibri"/>
              </a:rPr>
              <a:t>설계 의도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53212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ADCFC"/>
                </a:solidFill>
                <a:latin typeface="Calibri"/>
              </a:rPr>
              <a:t>A = 얼마나 줄여도 버티는가(하한선) · B = 일반 conv로 층을 더 쌓으면 얼마나 나아지는가 · C = B와 같은 깊이인데 Depthwise Separable을 쓰면 파라미터가 얼마나 줄고 성능은 얼마나 유지되는가. 세 모델의 크기 차이(9만~24만)가 RQ3(크기-정확도 트레이드오프)의 비교축이 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5E6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150">
                <a:solidFill>
                  <a:srgbClr val="2A78D6"/>
                </a:solidFill>
                <a:latin typeface="Calibri"/>
              </a:rPr>
              <a:t>MODEL DESIGN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Cambria"/>
              </a:rPr>
              <a:t>왜 이렇게 설계했는가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11091672" cy="1115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27631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Global Average Pooling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627631"/>
            <a:ext cx="7818120" cy="8961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Flatten+Dense는 공간 위치마다 별도 가중치를 배워서 마지막 feature map이 조금만 커도 파라미터가 폭발한다(예: 8×8×128 Flatten → Dense(128)만 해도 100만개 이상). GAP은 채널별 평균 1개 값으로 압축해 이 문제를 원천 차단한다.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15768"/>
            <a:ext cx="11091672" cy="1115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834639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Depthwise Separable Conv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834639"/>
            <a:ext cx="7818120" cy="8961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일반 Conv(3×3, Cin→Cout)는 Cin×Cout×9번의 곱셈이 필요하지만, Depthwise(채널별 3×3 1번)+Pointwise(1×1로 채널 섞기)로 나누면 연산량이 크게 줄어든다. 채널 수가 클수록(64→128 구간) 절감 효과가 커서, 실측 FLOPs가 tiny_cnn_c에서 1/5.5까지 줄었다.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22776"/>
            <a:ext cx="11091672" cy="1115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4041648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모델별 Dropout 0.3 vs 0.4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4041648"/>
            <a:ext cx="7818120" cy="8961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파라미터가 많을수록(B, C) 과적합 여지가 커서 더 강한 Dropout(0.4)을 적용하고, 가장 작은 A는 애초에 표현력이 제한적이라 0.3으로 완화했다.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129784"/>
            <a:ext cx="11091672" cy="1115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5248656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128×128 입력 해상도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5248656"/>
            <a:ext cx="7818120" cy="8961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224×224 대비 연산량이 (224/128)²≈3배 줄어든다. 병반은 잎 전체 대비 상당한 면적을 차지해서 128px에서도 형태 구분이 가능하다고 판단했다 — 실측 정확도(94~98%)로 검증됨.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5E6B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150">
                <a:solidFill>
                  <a:srgbClr val="2A78D6"/>
                </a:solidFill>
                <a:latin typeface="Calibri"/>
              </a:rPr>
              <a:t>TRAINING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Cambria"/>
              </a:rPr>
              <a:t>학습 설정과 진행 중 겪은 사고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하이퍼파라미터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74519"/>
          <a:ext cx="53035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값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optimizer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Adam (lr=1e-3)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loss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CrossEntropyLoss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batch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epoch 상한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early stopping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val_loss 4회 연속 미개선 시 중단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434840"/>
            <a:ext cx="5303520" cy="1737360"/>
          </a:xfrm>
          <a:prstGeom prst="roundRect">
            <a:avLst>
              <a:gd name="adj" fmla="val 6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457200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E2761"/>
                </a:solidFill>
                <a:latin typeface="Calibri"/>
              </a:rPr>
              <a:t>왜 고정 epoch 대신 early stopping인가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74920"/>
            <a:ext cx="48463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스크래치 학습이라 클래스마다 수렴 속도가 다를 수 있어(모자이크바이러스는 train 261장뿐), 고정 숫자보다 "더 안 좋아지면 멈춘다"가 더 안전하다고 판단했다.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508760"/>
            <a:ext cx="5513832" cy="4663440"/>
          </a:xfrm>
          <a:prstGeom prst="roundRect">
            <a:avLst>
              <a:gd name="adj" fmla="val 6000"/>
            </a:avLst>
          </a:prstGeom>
          <a:solidFill>
            <a:srgbClr val="FBEEEA"/>
          </a:solidFill>
          <a:ln w="12700">
            <a:solidFill>
              <a:srgbClr val="F0C4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8A3A24"/>
                </a:solidFill>
                <a:latin typeface="Calibri"/>
              </a:rPr>
              <a:t>⚠ 체크포인트 유실 사고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57400"/>
            <a:ext cx="507492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8A3A24"/>
                </a:solidFill>
                <a:latin typeface="Calibri"/>
              </a:rPr>
              <a:t>세션이 중단되면서 tiny_cnn_b가 12epoch(val_acc 95.77%)까지 학습된 상태로 통째로 날아갔다 — 당시 코드가 학습이 다 끝난 시점에만 가중치를 저장하는 구조였기 때문이다.</a:t>
            </a:r>
          </a:p>
          <a:p>
            <a:pPr algn="l">
              <a:lnSpc>
                <a:spcPct val="140000"/>
              </a:lnSpc>
            </a:pPr>
            <a:endParaRPr sz="1100" b="0" i="0">
              <a:solidFill>
                <a:srgbClr val="8A3A24"/>
              </a:solidFill>
              <a:latin typeface="Calibri"/>
            </a:endParaRP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8A3A24"/>
                </a:solidFill>
                <a:latin typeface="Calibri"/>
              </a:rPr>
              <a:t>수정: val_loss가 개선될 때마다 즉시 디스크에 저장하고, epoch마다 로그 파일도 다시 써서, 중간에 끊겨도 그 시점까지의 best 가중치와 전체 이력이 남도록 구조를 바꿨다. 이후 재학습부터는 배치 단위 진행 로그도 추가해 실시간 모니터링이 가능해졌다.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5E6B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150">
                <a:solidFill>
                  <a:srgbClr val="2A78D6"/>
                </a:solidFill>
                <a:latin typeface="Calibri"/>
              </a:rPr>
              <a:t>RESULT 1 · INTERNAL ACCURACY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Cambria"/>
              </a:rPr>
              <a:t>내부 성능 — V2 vs V1, 상세 해석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508760"/>
          <a:ext cx="521208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89320" y="1508760"/>
          <a:ext cx="566928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160520"/>
            <a:ext cx="11091672" cy="2331720"/>
          </a:xfrm>
          <a:prstGeom prst="roundRect">
            <a:avLst>
              <a:gd name="adj" fmla="val 6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해석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5156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세 모델 다 V1 최고 기록(EfficientNetB0 86.21%)을 큰 폭으로 앞선다 — tiny_cnn_b는 +12.21%p.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macro F1도 정확도와 같은 순서(B 0.9766 &gt; A 0.9572 &gt; C 0.9530)로, 소수 클래스(모자이크바이러스 등)에서도 고르게 잘 분류한다는 뜻이다 — 다수 클래스로의 편향이 아니다.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confusion matrix 기준 "정상" 클래스는 세 모델 다 recall 98~100% — 정상/비정상 구분은 이미 거의 완벽.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tiny_cnn_c(31,498 파라미터)가 tiny_cnn_b(242,474)와 2.16%p 차이라는 점이 RQ1·RQ3에 대한 실질적 답이 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5E6B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150">
                <a:solidFill>
                  <a:srgbClr val="2A78D6"/>
                </a:solidFill>
                <a:latin typeface="Calibri"/>
              </a:rPr>
              <a:t>RESULT 2 · 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Cambria"/>
              </a:rPr>
              <a:t>효율성 — 파라미터 · FLOPs · 추론시간, 상세 해석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508760"/>
          <a:ext cx="512064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89320" y="1508760"/>
          <a:ext cx="566928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293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모델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파라미터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FLOPs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파일크기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CPU추론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tiny_cnn_a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94,762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330.3M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0.37MB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3.88ms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tiny_cnn_b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242,474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405.8M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0.94MB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7.08ms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tiny_cnn_c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31,498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74.4M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0.13MB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6.20ms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069080"/>
            <a:ext cx="11091672" cy="242316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420624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EB6834"/>
                </a:solidFill>
                <a:latin typeface="Calibri"/>
              </a:rPr>
              <a:t>해석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72000"/>
            <a:ext cx="1051560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30" b="0" i="0">
                <a:solidFill>
                  <a:srgbClr val="CADCFC"/>
                </a:solidFill>
                <a:latin typeface="Calibri"/>
              </a:rPr>
              <a:t>• tiny_cnn_c는 FLOPs가 나머지 둘의 1/5~1/5.5 수준이면서 정확도는 B 대비 2.16%p 차이 — Depthwise Separable Conv로 82% 이상 FLOPs를 줄이면서도 정확도는 크게 희생하지 않는다는 트레이드오프가 실측으로 확인됨(RQ3).</a:t>
            </a:r>
          </a:p>
          <a:p>
            <a:pPr algn="l">
              <a:lnSpc>
                <a:spcPct val="125000"/>
              </a:lnSpc>
            </a:pPr>
            <a:r>
              <a:rPr sz="1030" b="0" i="0">
                <a:solidFill>
                  <a:srgbClr val="CADCFC"/>
                </a:solidFill>
                <a:latin typeface="Calibri"/>
              </a:rPr>
              <a:t>• 다만 CPU 추론시간은 FLOPs 순서와 일치하지 않는다(a 3.88ms &lt; c 6.20ms &lt; b 7.08ms, FLOPs는 c&lt;a&lt;b) — Depthwise Separable Conv는 연산을 작은 커널로 쪼개기 때문에 FLOPs는 적어도 CPU에서 커널 호출·캐시 오버헤드가 상대적으로 커질 수 있다. 즉 FLOPs만으로 실제 지연시간을 예단하기 어렵다는 뜻이며, 메모리·저장공간(파일크기 0.13MB vs 0.94MB)에서는 여전히 tiny_cnn_c가 확실히 유리하다.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5E6B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150">
                <a:solidFill>
                  <a:srgbClr val="2A78D6"/>
                </a:solidFill>
                <a:latin typeface="Calibri"/>
              </a:rPr>
              <a:t>RESULT 3 · ROBUSTNESS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Cambria"/>
              </a:rPr>
              <a:t>Corruption 강건성 — 조건별 해석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63040"/>
          <a:ext cx="11091672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4251960"/>
            <a:ext cx="11091672" cy="2240280"/>
          </a:xfrm>
          <a:prstGeom prst="roundRect">
            <a:avLst>
              <a:gd name="adj" fmla="val 6000"/>
            </a:avLst>
          </a:prstGeom>
          <a:solidFill>
            <a:srgbClr val="FBEEEA"/>
          </a:solidFill>
          <a:ln w="12700">
            <a:solidFill>
              <a:srgbClr val="F0C4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3891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8A3A24"/>
                </a:solidFill>
                <a:latin typeface="Calibri"/>
              </a:rPr>
              <a:t>왜 밝기·블러에 유독 약한가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8A3A24"/>
                </a:solidFill>
                <a:latin typeface="Calibri"/>
              </a:rPr>
              <a:t>학습에 밝기/블러 계열 증강을 전혀 쓰지 않았기 때문이다 — 모델이 훈련 중 한 번도 접하지 못한 픽셀 분포다. 반사·가림·그림자는 이미지의 '일부 영역'만 바꾸는 국소적 변형이라 나머지 잎 형태 정보가 살아있는 반면, 밝기는 전체 픽셀 강도 분포 자체를 이동시키고 블러는 병반의 경계(고주파 성분)를 직접 지워버려서 국소 변형보다 훨씬 치명적이다.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62356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8A3A24"/>
                </a:solidFill>
                <a:latin typeface="Calibri"/>
              </a:rPr>
              <a:t>모델별로는 tiny_cnn_b가 평균 저하율 25.91%로 가장 강건하고, tiny_cnn_a가 32.92%로 가장 취약하다 — 파라미터가 적을수록 결정 경계가 더 좁아 왜곡에 민감해지는 경향으로 해석된다.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5E6B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150">
                <a:solidFill>
                  <a:srgbClr val="2A78D6"/>
                </a:solidFill>
                <a:latin typeface="Calibri"/>
              </a:rPr>
              <a:t>RESULT 4 · EXTERNAL GENERALIZATION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Cambria"/>
              </a:rPr>
              <a:t>외부 데이터 일반화 — 3개 데이터셋 비교 해석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63040"/>
          <a:ext cx="11091672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4434840"/>
            <a:ext cx="11091672" cy="2057400"/>
          </a:xfrm>
          <a:prstGeom prst="roundRect">
            <a:avLst>
              <a:gd name="adj" fmla="val 6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핵심 해석: 클래스 커버리지는 원인이 아니다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80" b="0" i="0">
                <a:solidFill>
                  <a:srgbClr val="1A1A1A"/>
                </a:solidFill>
                <a:latin typeface="Calibri"/>
              </a:rPr>
              <a:t>PlantDoc(8/10 클래스)이 Taiwan(3/10)보다 훨씬 많이 겹치는데도 정확도는 오히려 Taiwan보다 낮거나 비슷하다(세 모델 모두 PlantDoc &lt; Taiwan). 만약 문제가 "클래스 불일치"였다면 PlantDoc에서 뚜렷이 개선됐어야 하는데 그렇지 않았다 — 즉 원인은 클래스 매핑이 아니라 촬영 환경(조명·배경·해상도·구도) 자체의 분포 차이(domain shift)다. 내부 정확도가 96~98%로 V1보다 훨씬 높아졌는데도 외부에서는 V1과 비슷한 범위(9~31%)로 급락한다는 점이 "모델을 더 잘 만드는 것"과 "실제 환경에 일반화되는 것"이 별개의 문제임을 보여준다.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5E6B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150">
                <a:solidFill>
                  <a:srgbClr val="2A78D6"/>
                </a:solidFill>
                <a:latin typeface="Calibri"/>
              </a:rPr>
              <a:t>SUMMARY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Cambria"/>
              </a:rPr>
              <a:t>종합 비교표 (판단 없이 자료만)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00200"/>
          <a:ext cx="11091671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90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모델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내부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Corrupt.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Taiwan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Bangla.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PlantDoc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tiny_cnn_b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V2·실측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98.42%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25.91%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29.30%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18.26%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23.55%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tiny_cnn_a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V2·실측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96.59%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32.92%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26.75%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17.62%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23.70%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tiny_cnn_c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V2·실측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96.26%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30.35%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25.16%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15.44%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20.03%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efficientnetb0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V1·인용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86.21%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25.16%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18.09%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mobilenetv2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V1·인용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84.42%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29.30%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12.95%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baseline_cnn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V1·인용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83.32%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30.89%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9.46%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efficientnetb0_cw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V1·인용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82.30%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23.25%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12.67%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densenet121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V1·인용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80.58%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28.98%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11.02%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76072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5B5E6B"/>
                </a:solidFill>
                <a:latin typeface="Calibri"/>
              </a:rPr>
              <a:t>V1은 PlantDoc/효율성/corruption을 측정한 적 없어 해당 칸은 비워둠(—). 이 표는 비교 자료이며 최종 모델 판단은 포함하지 않았다.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5E6B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150">
                <a:solidFill>
                  <a:srgbClr val="2A78D6"/>
                </a:solidFill>
                <a:latin typeface="Calibri"/>
              </a:rPr>
              <a:t>RESULT 5 · FINAL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Cambria"/>
              </a:rPr>
              <a:t>최종 모델 선정 — tiny_cnn_c, 96px, bicubic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6072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5B5E6B"/>
                </a:solidFill>
                <a:latin typeface="Calibri"/>
              </a:rPr>
              <a:t>구조는 tiny_cnn_c(8배 작고 seed 재현성 최고)를 선택하고, 64/96/128/224px × 4개 보간법 13개 조합을 비교했다. 96px bicubic은 외부 1위(128px bicubic)와 0.1~0.3%p 차이면서 학습 시간은 21% 더 짧아 경량화 목표에 가장 부합하는 균형점으로 최종 선택했다.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5E6B"/>
                </a:solidFill>
                <a:latin typeface="Calibri"/>
              </a:rPr>
              <a:t>21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0200"/>
          <a:ext cx="91440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63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설정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내부 정확도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외부 평균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학습 시간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</a:rPr>
                        <a:t>128px bilinear (기존 기준)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</a:rPr>
                        <a:t>96.26%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</a:rPr>
                        <a:t>20.21%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</a:rPr>
                        <a:t>68.5분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</a:rPr>
                        <a:t>128px box (내부 정확도 최고)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</a:rPr>
                        <a:t>96.96%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</a:rPr>
                        <a:t>21.89%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</a:rPr>
                        <a:t>113.3분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1A1A"/>
                          </a:solidFill>
                        </a:rPr>
                        <a:t>96px bicubic (최종 선택)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1A1A"/>
                          </a:solidFill>
                        </a:rPr>
                        <a:t>96.59%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1A1A"/>
                          </a:solidFill>
                        </a:rPr>
                        <a:t>23.02%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1A1A"/>
                          </a:solidFill>
                        </a:rPr>
                        <a:t>75.9분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</a:rPr>
                        <a:t>128px bicubic (외부 1위)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</a:rPr>
                        <a:t>96.66%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</a:rPr>
                        <a:t>23.31%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</a:rPr>
                        <a:t>95.7분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150">
                <a:solidFill>
                  <a:srgbClr val="2A78D6"/>
                </a:solidFill>
                <a:latin typeface="Calibri"/>
              </a:rPr>
              <a:t>RESULT 6 · SEED REPRODUCIBILITY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Cambria"/>
              </a:rPr>
              <a:t>Seed 재현성 — 42 / 123 / 2026 반복실험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6072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5B5E6B"/>
                </a:solidFill>
                <a:latin typeface="Calibri"/>
              </a:rPr>
              <a:t>config.SEEDS=[42,123,2026] 3개 seed로 전부 재학습·재평가했다. tiny_cnn_b가 정확도는 가장 높지만 seed 간 편차도 가장 크고(±0.64%p), tiny_cnn_c는 편차가 0.25%p로 세 모델 중 가장 안정적이다 — 최종 모델 선정에서 이 재현성도 함께 고려했다.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5E6B"/>
                </a:solidFill>
                <a:latin typeface="Calibri"/>
              </a:rPr>
              <a:t>22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0200"/>
          <a:ext cx="91440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모델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내부 정확도 (평균±표준편차)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Corruption 평균 저하율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비고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</a:rPr>
                        <a:t>tiny_cnn_a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</a:rPr>
                        <a:t>96.36% ± 0.46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</a:rPr>
                        <a:t>31.28%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</a:rPr>
                        <a:t>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</a:rPr>
                        <a:t>tiny_cnn_b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</a:rPr>
                        <a:t>97.64% ± 0.64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</a:rPr>
                        <a:t>26.37% (최선)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</a:rPr>
                        <a:t>편차 최대</a:t>
                      </a:r>
                    </a:p>
                  </a:txBody>
                  <a:tcPr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1A1A"/>
                          </a:solidFill>
                        </a:rPr>
                        <a:t>tiny_cnn_c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1A1A"/>
                          </a:solidFill>
                        </a:rPr>
                        <a:t>96.46% ± 0.25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1A1A"/>
                          </a:solidFill>
                        </a:rPr>
                        <a:t>29.74%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1A1A"/>
                          </a:solidFill>
                        </a:rPr>
                        <a:t>재현성 최선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2A78D6"/>
                </a:solidFill>
                <a:latin typeface="Calibri"/>
              </a:rPr>
              <a:t>RESULT 7 · DOMAIN ADAPTATION (1/6)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Cambria"/>
              </a:rPr>
              <a:t>AdaBN / TENT 적용 — 전부 악화 (Negative Transfer)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0000"/>
            <a:ext cx="11091672" cy="9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AdaBN(Li et al., 2016)은 target 이미지로 forward만 수행해 BN 통계를 완전 교체한다. TENT(Wang et al., ICLR 2021)는 BN affine만 열고 entropy를 최소화한다. 둘 다 target label은 전혀 쓰지 않는다(source-free·label-free).</a:t>
            </a:r>
          </a:p>
        </p:txBody>
      </p:sp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548640" y="2250000"/>
          <a:ext cx="6700000" cy="2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0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데이터셋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클래스 겹침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Source-only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AdaBN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TENT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Taiwan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3/10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</a:rPr>
                        <a:t>27.39%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7.64%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8.28%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Bangladesh</a:t>
                      </a:r>
                    </a:p>
                  </a:txBody>
                  <a:tcPr anchor="ctr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6/10</a:t>
                      </a:r>
                    </a:p>
                  </a:txBody>
                  <a:tcPr anchor="ctr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</a:rPr>
                        <a:t>21.80%</a:t>
                      </a:r>
                    </a:p>
                  </a:txBody>
                  <a:tcPr anchor="ctr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10.17%</a:t>
                      </a:r>
                    </a:p>
                  </a:txBody>
                  <a:tcPr anchor="ctr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8.63%</a:t>
                      </a:r>
                    </a:p>
                  </a:txBody>
                  <a:tcPr anchor="ctr"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PlantDoc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8/10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</a:rPr>
                        <a:t>19.89%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13.12%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11.14%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0" name="Picture" descr="Negative transfer evidence 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250000"/>
            <a:ext cx="4100000" cy="2221000"/>
          </a:xfrm>
          <a:prstGeom prst="rect">
            <a:avLst/>
          </a:prstGeom>
        </p:spPr>
      </p:pic>
      <p:sp>
        <p:nvSpPr>
          <p:cNvPr id="6" name="TextBox 4"/>
          <p:cNvSpPr txBox="1"/>
          <p:nvPr/>
        </p:nvSpPr>
        <p:spPr>
          <a:xfrm>
            <a:off x="548640" y="4650000"/>
            <a:ext cx="11091672" cy="1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5B5E6B"/>
                </a:solidFill>
                <a:latin typeface="Calibri"/>
              </a:rPr>
              <a:t>예측이 target에 없는 클래스로 쏠렸다 — partial label-space mismatch로 인한 negative transfer다(PADA/ETN 이론). 클래스 겹침이 적을수록(Taiwan 3/10) 저하가 더 컸다.</a:t>
            </a:r>
          </a:p>
        </p:txBody>
      </p:sp>
      <p:sp>
        <p:nvSpPr>
          <p:cNvPr id="8" name="TextBox 5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5E6B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2A78D6"/>
                </a:solidFill>
                <a:latin typeface="Calibri"/>
              </a:rPr>
              <a:t>RESULT 7 · DOMAIN ADAPTATION (2/6)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Cambria"/>
              </a:rPr>
              <a:t>해결책: Class-restriction 마스킹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0000"/>
            <a:ext cx="11091672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class_info.py의 사전 클래스 매핑으로 target에 없는 클래스의 로짓을 -inf 처리한다(추가 학습 없음, zero-cost). 모든 데이터셋에서 마스킹만으로도 source-only보다 개선됐다.</a:t>
            </a:r>
          </a:p>
        </p:txBody>
      </p:sp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548640" y="2150000"/>
          <a:ext cx="8500000" cy="24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0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데이터셋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Source-only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+마스킹만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AdaBN+마스킹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Taiwan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27.39%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32.48%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</a:rPr>
                        <a:t>38.85%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Bangladesh</a:t>
                      </a:r>
                    </a:p>
                  </a:txBody>
                  <a:tcPr anchor="ctr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21.80%</a:t>
                      </a:r>
                    </a:p>
                  </a:txBody>
                  <a:tcPr anchor="ctr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</a:rPr>
                        <a:t>22.34%</a:t>
                      </a:r>
                    </a:p>
                  </a:txBody>
                  <a:tcPr anchor="ctr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15.71%</a:t>
                      </a:r>
                    </a:p>
                  </a:txBody>
                  <a:tcPr anchor="ctr"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PlantDoc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19.89%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</a:rPr>
                        <a:t>20.31%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14.81%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4"/>
          <p:cNvSpPr txBox="1"/>
          <p:nvPr/>
        </p:nvSpPr>
        <p:spPr>
          <a:xfrm>
            <a:off x="548640" y="4800000"/>
            <a:ext cx="11091672" cy="1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5B5E6B"/>
                </a:solidFill>
                <a:latin typeface="Calibri"/>
              </a:rPr>
              <a:t>TENT는 마스킹을 적응 과정에도 반영했지만(mask-aware) 한 클래스로만 100% 예측하는 collapse가 났다. Diversity 정규화로 고쳐도 마스킹만 한 것보다 전부 나빠 최종안에서 제외했다. AdaBN도 momentum 블렌딩으로 약하게 섞어봤지만 Bangladesh·PlantDoc은 개선하지 못했다.</a:t>
            </a:r>
          </a:p>
        </p:txBody>
      </p:sp>
      <p:sp>
        <p:nvSpPr>
          <p:cNvPr id="8" name="TextBox 5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5E6B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2A78D6"/>
                </a:solidFill>
                <a:latin typeface="Calibri"/>
              </a:rPr>
              <a:t>RESULT 7 · DOMAIN ADAPTATION (3/6)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Cambria"/>
              </a:rPr>
              <a:t>최종 승자: SHOT (Pseudo-labeling + Info-max)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0000"/>
            <a:ext cx="11091672" cy="1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dirty="0">
                <a:solidFill>
                  <a:srgbClr val="1A1A1A"/>
                </a:solidFill>
                <a:latin typeface="Calibri"/>
              </a:rPr>
              <a:t>Liang et al., ICML 2020. Source </a:t>
            </a:r>
            <a:r>
              <a:rPr sz="1300" b="0" i="0" dirty="0" err="1">
                <a:solidFill>
                  <a:srgbClr val="1A1A1A"/>
                </a:solidFill>
                <a:latin typeface="Calibri"/>
              </a:rPr>
              <a:t>classifier는</a:t>
            </a:r>
            <a:r>
              <a:rPr sz="13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A1A1A"/>
                </a:solidFill>
                <a:latin typeface="Calibri"/>
              </a:rPr>
              <a:t>고정하고</a:t>
            </a:r>
            <a:r>
              <a:rPr sz="1300" b="0" i="0" dirty="0">
                <a:solidFill>
                  <a:srgbClr val="1A1A1A"/>
                </a:solidFill>
                <a:latin typeface="Calibri"/>
              </a:rPr>
              <a:t> feature </a:t>
            </a:r>
            <a:r>
              <a:rPr sz="1300" b="0" i="0" dirty="0" err="1">
                <a:solidFill>
                  <a:srgbClr val="1A1A1A"/>
                </a:solidFill>
                <a:latin typeface="Calibri"/>
              </a:rPr>
              <a:t>extractor만</a:t>
            </a:r>
            <a:r>
              <a:rPr sz="13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A1A1A"/>
                </a:solidFill>
                <a:latin typeface="Calibri"/>
              </a:rPr>
              <a:t>미세조정한다</a:t>
            </a:r>
            <a:r>
              <a:rPr sz="1300" b="0" i="0" dirty="0">
                <a:solidFill>
                  <a:srgbClr val="1A1A1A"/>
                </a:solidFill>
                <a:latin typeface="Calibri"/>
              </a:rPr>
              <a:t>. </a:t>
            </a:r>
            <a:r>
              <a:rPr sz="1300" b="0" i="0" dirty="0" err="1">
                <a:solidFill>
                  <a:srgbClr val="1A1A1A"/>
                </a:solidFill>
                <a:latin typeface="Calibri"/>
              </a:rPr>
              <a:t>마스킹된</a:t>
            </a:r>
            <a:r>
              <a:rPr sz="13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A1A1A"/>
                </a:solidFill>
                <a:latin typeface="Calibri"/>
              </a:rPr>
              <a:t>클래스</a:t>
            </a:r>
            <a:r>
              <a:rPr sz="13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A1A1A"/>
                </a:solidFill>
                <a:latin typeface="Calibri"/>
              </a:rPr>
              <a:t>안에서</a:t>
            </a:r>
            <a:r>
              <a:rPr sz="1300" b="0" i="0" dirty="0">
                <a:solidFill>
                  <a:srgbClr val="1A1A1A"/>
                </a:solidFill>
                <a:latin typeface="Calibri"/>
              </a:rPr>
              <a:t> pseudo-</a:t>
            </a:r>
            <a:r>
              <a:rPr sz="1300" b="0" i="0" dirty="0" err="1">
                <a:solidFill>
                  <a:srgbClr val="1A1A1A"/>
                </a:solidFill>
                <a:latin typeface="Calibri"/>
              </a:rPr>
              <a:t>label을</a:t>
            </a:r>
            <a:r>
              <a:rPr sz="13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A1A1A"/>
                </a:solidFill>
                <a:latin typeface="Calibri"/>
              </a:rPr>
              <a:t>할당하고</a:t>
            </a:r>
            <a:r>
              <a:rPr sz="1300" b="0" i="0" dirty="0">
                <a:solidFill>
                  <a:srgbClr val="1A1A1A"/>
                </a:solidFill>
                <a:latin typeface="Calibri"/>
              </a:rPr>
              <a:t>, pseudo-label cross-entropy + information-</a:t>
            </a:r>
            <a:r>
              <a:rPr sz="1300" b="0" i="0" dirty="0" err="1">
                <a:solidFill>
                  <a:srgbClr val="1A1A1A"/>
                </a:solidFill>
                <a:latin typeface="Calibri"/>
              </a:rPr>
              <a:t>maximization으로</a:t>
            </a:r>
            <a:r>
              <a:rPr sz="13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A1A1A"/>
                </a:solidFill>
                <a:latin typeface="Calibri"/>
              </a:rPr>
              <a:t>학습한다</a:t>
            </a:r>
            <a:r>
              <a:rPr sz="1300" b="0" i="0" dirty="0">
                <a:solidFill>
                  <a:srgbClr val="1A1A1A"/>
                </a:solidFill>
                <a:latin typeface="Calibri"/>
              </a:rPr>
              <a:t>.</a:t>
            </a:r>
          </a:p>
        </p:txBody>
      </p:sp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548640" y="2300000"/>
          <a:ext cx="8800000" cy="24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0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데이터셋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Source+마스킹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AdaBN+마스킹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SHOT+마스킹(epoch=2)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Taiwan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32.48%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38.85%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</a:rPr>
                        <a:t>42.04%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Bangladesh</a:t>
                      </a:r>
                    </a:p>
                  </a:txBody>
                  <a:tcPr anchor="ctr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22.34%</a:t>
                      </a:r>
                    </a:p>
                  </a:txBody>
                  <a:tcPr anchor="ctr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15.71%</a:t>
                      </a:r>
                    </a:p>
                  </a:txBody>
                  <a:tcPr anchor="ctr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</a:rPr>
                        <a:t>30.79%</a:t>
                      </a:r>
                    </a:p>
                  </a:txBody>
                  <a:tcPr anchor="ctr"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PlantDoc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20.31%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14.81%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</a:rPr>
                        <a:t>19.46% (F1 0.182 1위)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4"/>
          <p:cNvSpPr txBox="1"/>
          <p:nvPr/>
        </p:nvSpPr>
        <p:spPr>
          <a:xfrm>
            <a:off x="548640" y="4950000"/>
            <a:ext cx="11091672" cy="1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5B5E6B"/>
                </a:solidFill>
                <a:latin typeface="Calibri"/>
              </a:rPr>
              <a:t>AdaBN/TENT와 달리 SHOT은 3개 데이터셋 전부에서 collapse 없이 안정적으로 잘 됐다 — 데이터셋마다 다른 방법을 골라야 했던 AdaBN/TENT와 달리 튜닝 없이 두루 통하는 유일한 방법이다.</a:t>
            </a:r>
          </a:p>
        </p:txBody>
      </p:sp>
      <p:sp>
        <p:nvSpPr>
          <p:cNvPr id="8" name="TextBox 5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5E6B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2A78D6"/>
                </a:solidFill>
                <a:latin typeface="Calibri"/>
              </a:rPr>
              <a:t>RESULT 7 · DOMAIN ADAPTATION (4/6)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Cambria"/>
              </a:rPr>
              <a:t>SHOT epoch 수를 어떻게 정했나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0000"/>
            <a:ext cx="11091672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dirty="0" err="1">
                <a:solidFill>
                  <a:srgbClr val="1A1A1A"/>
                </a:solidFill>
                <a:latin typeface="Calibri"/>
              </a:rPr>
              <a:t>SHOT은</a:t>
            </a:r>
            <a:r>
              <a:rPr sz="13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A1A1A"/>
                </a:solidFill>
                <a:latin typeface="Calibri"/>
              </a:rPr>
              <a:t>epoch을</a:t>
            </a:r>
            <a:r>
              <a:rPr sz="13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A1A1A"/>
                </a:solidFill>
                <a:latin typeface="Calibri"/>
              </a:rPr>
              <a:t>늘릴수록</a:t>
            </a:r>
            <a:r>
              <a:rPr sz="1300" b="0" i="0" dirty="0">
                <a:solidFill>
                  <a:srgbClr val="1A1A1A"/>
                </a:solidFill>
                <a:latin typeface="Calibri"/>
              </a:rPr>
              <a:t> 더 </a:t>
            </a:r>
            <a:r>
              <a:rPr sz="1300" b="0" i="0" dirty="0" err="1">
                <a:solidFill>
                  <a:srgbClr val="1A1A1A"/>
                </a:solidFill>
                <a:latin typeface="Calibri"/>
              </a:rPr>
              <a:t>많이</a:t>
            </a:r>
            <a:r>
              <a:rPr sz="13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A1A1A"/>
                </a:solidFill>
                <a:latin typeface="Calibri"/>
              </a:rPr>
              <a:t>학습한다</a:t>
            </a:r>
            <a:r>
              <a:rPr sz="1300" b="0" i="0" dirty="0">
                <a:solidFill>
                  <a:srgbClr val="1A1A1A"/>
                </a:solidFill>
                <a:latin typeface="Calibri"/>
              </a:rPr>
              <a:t>. </a:t>
            </a:r>
            <a:r>
              <a:rPr sz="1300" b="0" i="0" dirty="0" err="1">
                <a:solidFill>
                  <a:srgbClr val="1A1A1A"/>
                </a:solidFill>
                <a:latin typeface="Calibri"/>
              </a:rPr>
              <a:t>데이터셋마다</a:t>
            </a:r>
            <a:r>
              <a:rPr sz="1300" b="0" i="0" dirty="0">
                <a:solidFill>
                  <a:srgbClr val="1A1A1A"/>
                </a:solidFill>
                <a:latin typeface="Calibri"/>
              </a:rPr>
              <a:t> target </a:t>
            </a:r>
            <a:r>
              <a:rPr sz="1300" b="0" i="0" dirty="0" err="1">
                <a:solidFill>
                  <a:srgbClr val="1A1A1A"/>
                </a:solidFill>
                <a:latin typeface="Calibri"/>
              </a:rPr>
              <a:t>accuracy가</a:t>
            </a:r>
            <a:r>
              <a:rPr sz="13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A1A1A"/>
                </a:solidFill>
                <a:latin typeface="Calibri"/>
              </a:rPr>
              <a:t>가장</a:t>
            </a:r>
            <a:r>
              <a:rPr sz="13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A1A1A"/>
                </a:solidFill>
                <a:latin typeface="Calibri"/>
              </a:rPr>
              <a:t>높은</a:t>
            </a:r>
            <a:r>
              <a:rPr sz="13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A1A1A"/>
                </a:solidFill>
                <a:latin typeface="Calibri"/>
              </a:rPr>
              <a:t>epoch을</a:t>
            </a:r>
            <a:r>
              <a:rPr sz="13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A1A1A"/>
                </a:solidFill>
                <a:latin typeface="Calibri"/>
              </a:rPr>
              <a:t>골라</a:t>
            </a:r>
            <a:r>
              <a:rPr sz="13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A1A1A"/>
                </a:solidFill>
                <a:latin typeface="Calibri"/>
              </a:rPr>
              <a:t>보고하면</a:t>
            </a:r>
            <a:r>
              <a:rPr sz="1300" b="0" i="0" dirty="0">
                <a:solidFill>
                  <a:srgbClr val="1A1A1A"/>
                </a:solidFill>
                <a:latin typeface="Calibri"/>
              </a:rPr>
              <a:t> label-free </a:t>
            </a:r>
            <a:r>
              <a:rPr sz="1300" b="0" i="0" dirty="0" err="1">
                <a:solidFill>
                  <a:srgbClr val="1A1A1A"/>
                </a:solidFill>
                <a:latin typeface="Calibri"/>
              </a:rPr>
              <a:t>전제와</a:t>
            </a:r>
            <a:r>
              <a:rPr sz="13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A1A1A"/>
                </a:solidFill>
                <a:latin typeface="Calibri"/>
              </a:rPr>
              <a:t>모순되므로</a:t>
            </a:r>
            <a:r>
              <a:rPr sz="1300" b="0" i="0" dirty="0">
                <a:solidFill>
                  <a:srgbClr val="1A1A1A"/>
                </a:solidFill>
                <a:latin typeface="Calibri"/>
              </a:rPr>
              <a:t>, </a:t>
            </a:r>
            <a:r>
              <a:rPr sz="1300" b="0" i="0" dirty="0" err="1">
                <a:solidFill>
                  <a:srgbClr val="1A1A1A"/>
                </a:solidFill>
                <a:latin typeface="Calibri"/>
              </a:rPr>
              <a:t>epoch별</a:t>
            </a:r>
            <a:r>
              <a:rPr sz="13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A1A1A"/>
                </a:solidFill>
                <a:latin typeface="Calibri"/>
              </a:rPr>
              <a:t>민감도부터</a:t>
            </a:r>
            <a:r>
              <a:rPr sz="13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A1A1A"/>
                </a:solidFill>
                <a:latin typeface="Calibri"/>
              </a:rPr>
              <a:t>확인했다</a:t>
            </a:r>
            <a:r>
              <a:rPr sz="1300" b="0" i="0" dirty="0">
                <a:solidFill>
                  <a:srgbClr val="1A1A1A"/>
                </a:solidFill>
                <a:latin typeface="Calibri"/>
              </a:rPr>
              <a:t>.</a:t>
            </a:r>
          </a:p>
        </p:txBody>
      </p:sp>
      <p:pic>
        <p:nvPicPr>
          <p:cNvPr id="10" name="Picture" descr="SHOT epoch sensitivity 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5847" y="2150000"/>
            <a:ext cx="4500000" cy="2924927"/>
          </a:xfrm>
          <a:prstGeom prst="rect">
            <a:avLst/>
          </a:prstGeom>
        </p:spPr>
      </p:pic>
      <p:sp>
        <p:nvSpPr>
          <p:cNvPr id="6" name="TextBox 4"/>
          <p:cNvSpPr txBox="1"/>
          <p:nvPr/>
        </p:nvSpPr>
        <p:spPr>
          <a:xfrm>
            <a:off x="548640" y="5224927"/>
            <a:ext cx="11091672" cy="9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5B5E6B"/>
                </a:solidFill>
                <a:latin typeface="Calibri"/>
              </a:rPr>
              <a:t>Taiwan(클래스 3개)은 epoch이 늘수록 계속 좋아지지만, Bangladesh(6개)·PlantDoc(8개)은 epoch 2~3에서 정점을 찍고 pseudo-label 과적합으로 꺾인다. 그래서 공통 epoch=2를 사전 기준으로 고정했다.</a:t>
            </a:r>
          </a:p>
        </p:txBody>
      </p:sp>
      <p:sp>
        <p:nvSpPr>
          <p:cNvPr id="8" name="TextBox 5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5E6B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2A78D6"/>
                </a:solidFill>
                <a:latin typeface="Calibri"/>
              </a:rPr>
              <a:t>RESULT 7 · DOMAIN ADAPTATION (5/6)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Cambria"/>
              </a:rPr>
              <a:t>최종 권장 파이프라인 + 다음 과제</a:t>
            </a:r>
          </a:p>
        </p:txBody>
      </p:sp>
      <p:sp>
        <p:nvSpPr>
          <p:cNvPr id="4" name="TextBox H"/>
          <p:cNvSpPr txBox="1"/>
          <p:nvPr/>
        </p:nvSpPr>
        <p:spPr>
          <a:xfrm>
            <a:off x="548640" y="1500000"/>
            <a:ext cx="11091672" cy="12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1E2761"/>
                </a:solidFill>
                <a:latin typeface="Calibri"/>
              </a:rPr>
              <a:t>최종 권장: Class-restriction 마스킹은 항상 적용 + SHOT(epoch=2)을 기본 적응 방법으로 사용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50000"/>
            <a:ext cx="11091672" cy="1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5B5E6B"/>
                </a:solidFill>
                <a:latin typeface="Calibri"/>
              </a:rPr>
              <a:t>데이터셋마다 다른 방법을 골라야 했던 AdaBN(Taiwan 전용)·TENT(전부 탈락)와 달리, SHOT은 튜닝 없이 3개 데이터셋 전부에서 collapse 없이 최고 또는 최고에 가까운 성능을 낸 유일한 방법이다.</a:t>
            </a:r>
          </a:p>
        </p:txBody>
      </p:sp>
      <p:sp>
        <p:nvSpPr>
          <p:cNvPr id="6" name="TextBox 4"/>
          <p:cNvSpPr txBox="1"/>
          <p:nvPr/>
        </p:nvSpPr>
        <p:spPr>
          <a:xfrm>
            <a:off x="548640" y="4450000"/>
            <a:ext cx="11091672" cy="1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5B5E6B"/>
                </a:solidFill>
                <a:latin typeface="Calibri"/>
              </a:rPr>
              <a:t>남은 과제: 지금은 seed42 단일 실행 결과다. tiny_cnn_c(96px·bicubic)를 seed123/2026에서 추가 학습해 이 비교 전체를 3-seed로 재검증할 계획이다(seed123 학습 진행 중).</a:t>
            </a:r>
          </a:p>
        </p:txBody>
      </p:sp>
      <p:sp>
        <p:nvSpPr>
          <p:cNvPr id="8" name="TextBox 5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5E6B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150">
                <a:solidFill>
                  <a:srgbClr val="2A78D6"/>
                </a:solidFill>
                <a:latin typeface="Calibri"/>
              </a:rPr>
              <a:t>7단계 · WEB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Cambria"/>
              </a:rPr>
              <a:t>웹 대시보드 프로토타입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1109167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77240" y="1755648"/>
            <a:ext cx="566928" cy="566928"/>
          </a:xfrm>
          <a:prstGeom prst="ellipse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75564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0CA30C"/>
                </a:solidFill>
                <a:latin typeface="Calibri"/>
              </a:rPr>
              <a:t>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673352"/>
            <a:ext cx="9966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E2761"/>
                </a:solidFill>
                <a:latin typeface="Calibri"/>
              </a:rPr>
              <a:t>정상/비정상 색상 즉시 표시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984248"/>
            <a:ext cx="99669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B5E6B"/>
                </a:solidFill>
                <a:latin typeface="Calibri"/>
              </a:rPr>
              <a:t>초록(정상)/빨강(병해 의심) 카드를 결과 맨 위에 크게 배치 — 병명·설명은 다음 순서로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1109167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77240" y="2761488"/>
            <a:ext cx="566928" cy="566928"/>
          </a:xfrm>
          <a:prstGeom prst="ellipse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76148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2A78D6"/>
                </a:solidFill>
                <a:latin typeface="Calibri"/>
              </a:rPr>
              <a:t>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679192"/>
            <a:ext cx="9966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E2761"/>
                </a:solidFill>
                <a:latin typeface="Calibri"/>
              </a:rPr>
              <a:t>3개 모델 중 선택 가능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990088"/>
            <a:ext cx="99669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B5E6B"/>
                </a:solidFill>
                <a:latin typeface="Calibri"/>
              </a:rPr>
              <a:t>6단계 최종 선정 전이라 tiny_cnn_a/b/c를 사이드바에서 직접 골라 비교 가능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11880"/>
            <a:ext cx="1109167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77240" y="3767328"/>
            <a:ext cx="566928" cy="566928"/>
          </a:xfrm>
          <a:prstGeom prst="ellipse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376732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EB6834"/>
                </a:solidFill>
                <a:latin typeface="Calibri"/>
              </a:rPr>
              <a:t>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685032"/>
            <a:ext cx="9966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E2761"/>
                </a:solidFill>
                <a:latin typeface="Calibri"/>
              </a:rPr>
              <a:t>클래스별 확률 시각화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995928"/>
            <a:ext cx="99669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B5E6B"/>
                </a:solidFill>
                <a:latin typeface="Calibri"/>
              </a:rPr>
              <a:t>예측 클래스만 강조색으로 표시한 가로 막대 차트로 확신도 전달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617720"/>
            <a:ext cx="1109167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77240" y="4773168"/>
            <a:ext cx="566928" cy="566928"/>
          </a:xfrm>
          <a:prstGeom prst="ellipse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477316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C98500"/>
                </a:solidFill>
                <a:latin typeface="Calibri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690872"/>
            <a:ext cx="9966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E2761"/>
                </a:solidFill>
                <a:latin typeface="Calibri"/>
              </a:rPr>
              <a:t>한계 명시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5001768"/>
            <a:ext cx="99669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B5E6B"/>
                </a:solidFill>
                <a:latin typeface="Calibri"/>
              </a:rPr>
              <a:t>PlantVillage(실험실 환경) 데이터로만 학습 — 실제 환경 정확도 한계를 화면에 경고 문구로 고지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623560"/>
            <a:ext cx="7315200" cy="457200"/>
          </a:xfrm>
          <a:prstGeom prst="roundRect">
            <a:avLst>
              <a:gd name="adj" fmla="val 6000"/>
            </a:avLst>
          </a:prstGeom>
          <a:solidFill>
            <a:srgbClr val="141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5742432"/>
            <a:ext cx="6858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streamlit run app/streamlit_app.py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5E6B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41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200">
                <a:solidFill>
                  <a:srgbClr val="CADCFC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지금까지의 결론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3429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EB6834"/>
                </a:solidFill>
                <a:latin typeface="Cambria"/>
              </a:rPr>
              <a:t>98.42%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3429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CADCFC"/>
                </a:solidFill>
                <a:latin typeface="Calibri"/>
              </a:rPr>
              <a:t>V2 최고 내부 정확도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CADCFC"/>
                </a:solidFill>
                <a:latin typeface="Calibri"/>
              </a:rPr>
              <a:t>(tiny_cnn_b, V1 대비 +12.21%p)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1874519"/>
            <a:ext cx="3429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EB6834"/>
                </a:solidFill>
                <a:latin typeface="Cambria"/>
              </a:rPr>
              <a:t>13%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2743200"/>
            <a:ext cx="3429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CADCFC"/>
                </a:solidFill>
                <a:latin typeface="Calibri"/>
              </a:rPr>
              <a:t>tiny_cnn_c 파라미터 비율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CADCFC"/>
                </a:solidFill>
                <a:latin typeface="Calibri"/>
              </a:rPr>
              <a:t>(B 대비, 정확도 차 2.16%p)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874519"/>
            <a:ext cx="3429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EB6834"/>
                </a:solidFill>
                <a:latin typeface="Cambria"/>
              </a:rPr>
              <a:t>~20%대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743200"/>
            <a:ext cx="3429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CADCFC"/>
                </a:solidFill>
                <a:latin typeface="Calibri"/>
              </a:rPr>
              <a:t>3개 외부셋 공통 정확도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CADCFC"/>
                </a:solidFill>
                <a:latin typeface="Calibri"/>
              </a:rPr>
              <a:t>(클래스 커버리지 무관 — domain shift)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3794760"/>
            <a:ext cx="10515600" cy="0"/>
          </a:xfrm>
          <a:prstGeom prst="line">
            <a:avLst/>
          </a:prstGeom>
          <a:ln w="12700">
            <a:solidFill>
              <a:srgbClr val="3C4A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40233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CADCFC"/>
                </a:solidFill>
                <a:latin typeface="Calibri"/>
              </a:rPr>
              <a:t>다음 단계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434840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6단계 완료 — tiny_cnn_c, 96px, bicubic을 최종 모델로 선정(경량화·내부·외부·학습시간 종합 고려). 8단계 1차 결과: AdaBN/TENT는 partial label-space mismatch로 오히려 성능이 악화됨을 확인 — 다음은 SHOT(partial-set 고려) 적용 검토. app/streamlit_app.py의 DEFAULT_MODEL 교체로 7단계 배포 가능.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4924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alibri"/>
              </a:rPr>
              <a:t>이번 보고서에서 새로 다룬 내용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669280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1">
                <a:solidFill>
                  <a:srgbClr val="B8C2E8"/>
                </a:solidFill>
                <a:latin typeface="Calibri"/>
              </a:rPr>
              <a:t>최종 모델 선정(해상도×보간법 13개 조합 비교) · seed 42/123/2026 반복실험(재현성) · 체크포인트 재개 기능 · Domain Adaptation(AdaBN/TENT) 1차 실험과 negative transfer 발견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5E6B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A78D6"/>
                </a:solidFill>
                <a:latin typeface="Calibri"/>
              </a:rPr>
              <a:t>RESULT 7 · DOMAIN ADAPTATION (6/6)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Cambria"/>
              </a:rPr>
              <a:t>추가 검증: 모델을 더 줄이면 과적합이 줄어들까?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0000"/>
            <a:ext cx="11091672" cy="9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교수님 피드백: SHOT이 epoch 2만 넘어도 과적합되는 건 모델 용량 때문 아니냐 — 채널을 32→32→64→64로 절반 줄여보라는 제안. tiny_cnn_c_lite(10.2K 파라미터, 기존의 약 1/3)를 96px·bilinear로 추가 학습해 검증했다.</a:t>
            </a:r>
          </a:p>
        </p:txBody>
      </p:sp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548640" y="2250000"/>
          <a:ext cx="6700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0000"/>
                <a:gridCol w="1900000"/>
                <a:gridCol w="1900000"/>
              </a:tblGrid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tiny_cnn_c (31.5K)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tiny_cnn_c_lite (10.2K)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내부 정확도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</a:rPr>
                        <a:t>96.59%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95.34%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Taiwan (SHOT ep2)</a:t>
                      </a:r>
                    </a:p>
                  </a:txBody>
                  <a:tcPr anchor="ctr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</a:rPr>
                        <a:t>42.04%</a:t>
                      </a:r>
                    </a:p>
                  </a:txBody>
                  <a:tcPr anchor="ctr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37.90%</a:t>
                      </a:r>
                    </a:p>
                  </a:txBody>
                  <a:tcPr anchor="ctr">
                    <a:solidFill>
                      <a:srgbClr val="EEF3FC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Bangladesh (SHOT ep2)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</a:rPr>
                        <a:t>30.79%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21.07%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PlantDoc (SHOT ep2)</a:t>
                      </a:r>
                    </a:p>
                  </a:txBody>
                  <a:tcPr anchor="ctr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19.46% (F1 0.18)</a:t>
                      </a:r>
                    </a:p>
                  </a:txBody>
                  <a:tcPr anchor="ctr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</a:rPr>
                        <a:t>22.57% (F1 0.20)</a:t>
                      </a:r>
                    </a:p>
                  </a:txBody>
                  <a:tcPr anchor="ctr">
                    <a:solidFill>
                      <a:srgbClr val="EEF3FC"/>
                    </a:solidFill>
                  </a:tcPr>
                </a:tc>
              </a:tr>
            </a:tbl>
          </a:graphicData>
        </a:graphic>
      </p:graphicFrame>
      <p:pic>
        <p:nvPicPr>
          <p:cNvPr id="10" name="Picture" descr="SHOT epoch sensitivity chart (tiny_cnn_c_lite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8640" y="2250000"/>
            <a:ext cx="4000000" cy="2599935"/>
          </a:xfrm>
          <a:prstGeom prst="rect">
            <a:avLst/>
          </a:prstGeom>
        </p:spPr>
      </p:pic>
      <p:sp>
        <p:nvSpPr>
          <p:cNvPr id="6" name="TextBox 4"/>
          <p:cNvSpPr txBox="1"/>
          <p:nvPr/>
        </p:nvSpPr>
        <p:spPr>
          <a:xfrm>
            <a:off x="548640" y="4999935"/>
            <a:ext cx="11091672" cy="1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B5E6B"/>
                </a:solidFill>
                <a:latin typeface="Calibri"/>
              </a:rPr>
              <a:t>가설은 절반만 맞았다 — Bangladesh는 과적합이 완화됐지만(epoch 5까지 계속 개선) PlantDoc은 오히려 더 빨리 과적합됐다(epoch 1에서 이미 정점). 내부 정확도·Taiwan·Bangladesh는 전반적으로 더 낮아져, 모델 축소가 일관된 해결책은 아니었다 — 과적합 억제는 epoch 수를 고정하는 기존 방식이 더 안정적이다.</a:t>
            </a:r>
          </a:p>
        </p:txBody>
      </p:sp>
      <p:sp>
        <p:nvSpPr>
          <p:cNvPr id="8" name="TextBox 5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5E6B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4127</Words>
  <Application>Microsoft Office PowerPoint</Application>
  <PresentationFormat>와이드스크린</PresentationFormat>
  <Paragraphs>637</Paragraphs>
  <Slides>30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Arial</vt:lpstr>
      <vt:lpstr>Calibri</vt:lpstr>
      <vt:lpstr>Cambria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Tariq Mahmood</cp:lastModifiedBy>
  <cp:revision>2</cp:revision>
  <dcterms:created xsi:type="dcterms:W3CDTF">2013-01-27T09:14:16Z</dcterms:created>
  <dcterms:modified xsi:type="dcterms:W3CDTF">2026-10-02T02:50:41Z</dcterms:modified>
  <cp:category/>
</cp:coreProperties>
</file>